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38636"/>
          </a:solidFill>
          <a:ln w="12700">
            <a:solidFill>
              <a:srgbClr val="238636"/>
            </a:solidFill>
            <a:prstDash val="solid"/>
          </a:ln>
        </p:spPr>
      </p:sp>
      <p:sp>
        <p:nvSpPr>
          <p:cNvPr id="3" name="Shape 1"/>
          <p:cNvSpPr/>
          <p:nvPr/>
        </p:nvSpPr>
        <p:spPr>
          <a:xfrm>
            <a:off x="6858000" y="365760"/>
            <a:ext cx="329184" cy="329184"/>
          </a:xfrm>
          <a:prstGeom prst="ellipse">
            <a:avLst/>
          </a:prstGeom>
          <a:solidFill>
            <a:srgbClr val="1F6FEB">
              <a:alpha val="60000"/>
            </a:srgbClr>
          </a:solidFill>
          <a:ln w="12700">
            <a:solidFill>
              <a:srgbClr val="1F6FEB"/>
            </a:solidFill>
            <a:prstDash val="solid"/>
          </a:ln>
        </p:spPr>
      </p:sp>
      <p:sp>
        <p:nvSpPr>
          <p:cNvPr id="4" name="Shape 2"/>
          <p:cNvSpPr/>
          <p:nvPr/>
        </p:nvSpPr>
        <p:spPr>
          <a:xfrm>
            <a:off x="7498080" y="1005840"/>
            <a:ext cx="219456" cy="219456"/>
          </a:xfrm>
          <a:prstGeom prst="ellipse">
            <a:avLst/>
          </a:prstGeom>
          <a:solidFill>
            <a:srgbClr val="238636">
              <a:alpha val="60000"/>
            </a:srgbClr>
          </a:solidFill>
          <a:ln w="12700">
            <a:solidFill>
              <a:srgbClr val="238636"/>
            </a:solidFill>
            <a:prstDash val="solid"/>
          </a:ln>
        </p:spPr>
      </p:sp>
      <p:sp>
        <p:nvSpPr>
          <p:cNvPr id="5" name="Shape 3"/>
          <p:cNvSpPr/>
          <p:nvPr/>
        </p:nvSpPr>
        <p:spPr>
          <a:xfrm>
            <a:off x="8321040" y="640080"/>
            <a:ext cx="402336" cy="402336"/>
          </a:xfrm>
          <a:prstGeom prst="ellipse">
            <a:avLst/>
          </a:prstGeom>
          <a:solidFill>
            <a:srgbClr val="E88C0E">
              <a:alpha val="60000"/>
            </a:srgbClr>
          </a:solidFill>
          <a:ln w="12700">
            <a:solidFill>
              <a:srgbClr val="E88C0E"/>
            </a:solidFill>
            <a:prstDash val="solid"/>
          </a:ln>
        </p:spPr>
      </p:sp>
      <p:sp>
        <p:nvSpPr>
          <p:cNvPr id="6" name="Shape 4"/>
          <p:cNvSpPr/>
          <p:nvPr/>
        </p:nvSpPr>
        <p:spPr>
          <a:xfrm>
            <a:off x="7223760" y="1828800"/>
            <a:ext cx="274320" cy="274320"/>
          </a:xfrm>
          <a:prstGeom prst="ellipse">
            <a:avLst/>
          </a:prstGeom>
          <a:solidFill>
            <a:srgbClr val="8957E5">
              <a:alpha val="60000"/>
            </a:srgbClr>
          </a:solidFill>
          <a:ln w="12700">
            <a:solidFill>
              <a:srgbClr val="8957E5"/>
            </a:solidFill>
            <a:prstDash val="solid"/>
          </a:ln>
        </p:spPr>
      </p:sp>
      <p:sp>
        <p:nvSpPr>
          <p:cNvPr id="7" name="Shape 5"/>
          <p:cNvSpPr/>
          <p:nvPr/>
        </p:nvSpPr>
        <p:spPr>
          <a:xfrm>
            <a:off x="8046720" y="2286000"/>
            <a:ext cx="182880" cy="182880"/>
          </a:xfrm>
          <a:prstGeom prst="ellipse">
            <a:avLst/>
          </a:prstGeom>
          <a:solidFill>
            <a:srgbClr val="1F6FEB">
              <a:alpha val="60000"/>
            </a:srgbClr>
          </a:solidFill>
          <a:ln w="12700">
            <a:solidFill>
              <a:srgbClr val="1F6FEB"/>
            </a:solidFill>
            <a:prstDash val="solid"/>
          </a:ln>
        </p:spPr>
      </p:sp>
      <p:sp>
        <p:nvSpPr>
          <p:cNvPr id="8" name="Shape 6"/>
          <p:cNvSpPr/>
          <p:nvPr/>
        </p:nvSpPr>
        <p:spPr>
          <a:xfrm>
            <a:off x="8595360" y="1645920"/>
            <a:ext cx="329184" cy="329184"/>
          </a:xfrm>
          <a:prstGeom prst="ellipse">
            <a:avLst/>
          </a:prstGeom>
          <a:solidFill>
            <a:srgbClr val="238636">
              <a:alpha val="60000"/>
            </a:srgbClr>
          </a:solidFill>
          <a:ln w="12700">
            <a:solidFill>
              <a:srgbClr val="238636"/>
            </a:solidFill>
            <a:prstDash val="solid"/>
          </a:ln>
        </p:spPr>
      </p:sp>
      <p:sp>
        <p:nvSpPr>
          <p:cNvPr id="9" name="Shape 7"/>
          <p:cNvSpPr/>
          <p:nvPr/>
        </p:nvSpPr>
        <p:spPr>
          <a:xfrm>
            <a:off x="6675120" y="2926080"/>
            <a:ext cx="237744" cy="237744"/>
          </a:xfrm>
          <a:prstGeom prst="ellipse">
            <a:avLst/>
          </a:prstGeom>
          <a:solidFill>
            <a:srgbClr val="E88C0E">
              <a:alpha val="60000"/>
            </a:srgbClr>
          </a:solidFill>
          <a:ln w="12700">
            <a:solidFill>
              <a:srgbClr val="E88C0E"/>
            </a:solidFill>
            <a:prstDash val="solid"/>
          </a:ln>
        </p:spPr>
      </p:sp>
      <p:sp>
        <p:nvSpPr>
          <p:cNvPr id="10" name="Shape 8"/>
          <p:cNvSpPr/>
          <p:nvPr/>
        </p:nvSpPr>
        <p:spPr>
          <a:xfrm>
            <a:off x="7772400" y="3474720"/>
            <a:ext cx="365760" cy="365760"/>
          </a:xfrm>
          <a:prstGeom prst="ellipse">
            <a:avLst/>
          </a:prstGeom>
          <a:solidFill>
            <a:srgbClr val="8957E5">
              <a:alpha val="60000"/>
            </a:srgbClr>
          </a:solidFill>
          <a:ln w="12700">
            <a:solidFill>
              <a:srgbClr val="8957E5"/>
            </a:solidFill>
            <a:prstDash val="solid"/>
          </a:ln>
        </p:spPr>
      </p:sp>
      <p:sp>
        <p:nvSpPr>
          <p:cNvPr id="11" name="Shape 9"/>
          <p:cNvSpPr/>
          <p:nvPr/>
        </p:nvSpPr>
        <p:spPr>
          <a:xfrm>
            <a:off x="8412480" y="3108960"/>
            <a:ext cx="219456" cy="219456"/>
          </a:xfrm>
          <a:prstGeom prst="ellipse">
            <a:avLst/>
          </a:prstGeom>
          <a:solidFill>
            <a:srgbClr val="1F6FEB">
              <a:alpha val="60000"/>
            </a:srgbClr>
          </a:solidFill>
          <a:ln w="12700">
            <a:solidFill>
              <a:srgbClr val="1F6FEB"/>
            </a:solidFill>
            <a:prstDash val="solid"/>
          </a:ln>
        </p:spPr>
      </p:sp>
      <p:sp>
        <p:nvSpPr>
          <p:cNvPr id="12" name="Text 10"/>
          <p:cNvSpPr/>
          <p:nvPr/>
        </p:nvSpPr>
        <p:spPr>
          <a:xfrm>
            <a:off x="365760" y="1097280"/>
            <a:ext cx="6400800" cy="822960"/>
          </a:xfrm>
          <a:prstGeom prst="rect">
            <a:avLst/>
          </a:prstGeom>
          <a:noFill/>
          <a:ln/>
        </p:spPr>
        <p:txBody>
          <a:bodyPr wrap="square" rtlCol="0" anchor="ctr"/>
          <a:lstStyle/>
          <a:p>
            <a:pPr indent="0" marL="0">
              <a:buNone/>
            </a:pPr>
            <a:r>
              <a:rPr lang="en-US" sz="4400" b="1" dirty="0">
                <a:solidFill>
                  <a:srgbClr val="F0F6FC"/>
                </a:solidFill>
                <a:latin typeface="Calibri" pitchFamily="34" charset="0"/>
                <a:ea typeface="Calibri" pitchFamily="34" charset="-122"/>
                <a:cs typeface="Calibri" pitchFamily="34" charset="-120"/>
              </a:rPr>
              <a:t>Supply Chain</a:t>
            </a:r>
            <a:endParaRPr lang="en-US" sz="4400" dirty="0"/>
          </a:p>
        </p:txBody>
      </p:sp>
      <p:sp>
        <p:nvSpPr>
          <p:cNvPr id="13" name="Text 11"/>
          <p:cNvSpPr/>
          <p:nvPr/>
        </p:nvSpPr>
        <p:spPr>
          <a:xfrm>
            <a:off x="365760" y="1828800"/>
            <a:ext cx="6400800" cy="822960"/>
          </a:xfrm>
          <a:prstGeom prst="rect">
            <a:avLst/>
          </a:prstGeom>
          <a:noFill/>
          <a:ln/>
        </p:spPr>
        <p:txBody>
          <a:bodyPr wrap="square" rtlCol="0" anchor="ctr"/>
          <a:lstStyle/>
          <a:p>
            <a:pPr indent="0" marL="0">
              <a:buNone/>
            </a:pPr>
            <a:r>
              <a:rPr lang="en-US" sz="4400" b="1" dirty="0">
                <a:solidFill>
                  <a:srgbClr val="238636"/>
                </a:solidFill>
                <a:latin typeface="Calibri" pitchFamily="34" charset="0"/>
                <a:ea typeface="Calibri" pitchFamily="34" charset="-122"/>
                <a:cs typeface="Calibri" pitchFamily="34" charset="-120"/>
              </a:rPr>
              <a:t>Network Optimizer</a:t>
            </a:r>
            <a:endParaRPr lang="en-US" sz="4400" dirty="0"/>
          </a:p>
        </p:txBody>
      </p:sp>
      <p:sp>
        <p:nvSpPr>
          <p:cNvPr id="14" name="Text 12"/>
          <p:cNvSpPr/>
          <p:nvPr/>
        </p:nvSpPr>
        <p:spPr>
          <a:xfrm>
            <a:off x="365760" y="2834640"/>
            <a:ext cx="6400800" cy="457200"/>
          </a:xfrm>
          <a:prstGeom prst="rect">
            <a:avLst/>
          </a:prstGeom>
          <a:noFill/>
          <a:ln/>
        </p:spPr>
        <p:txBody>
          <a:bodyPr wrap="square" rtlCol="0" anchor="ctr"/>
          <a:lstStyle/>
          <a:p>
            <a:pPr indent="0" marL="0">
              <a:buNone/>
            </a:pPr>
            <a:r>
              <a:rPr lang="en-US" sz="1600" dirty="0">
                <a:solidFill>
                  <a:srgbClr val="8B949E"/>
                </a:solidFill>
                <a:latin typeface="Calibri" pitchFamily="34" charset="0"/>
                <a:ea typeface="Calibri" pitchFamily="34" charset="-122"/>
                <a:cs typeface="Calibri" pitchFamily="34" charset="-120"/>
              </a:rPr>
              <a:t>Graph Algorithms on Real Supply Chain Data</a:t>
            </a:r>
            <a:endParaRPr lang="en-US" sz="1600" dirty="0"/>
          </a:p>
        </p:txBody>
      </p:sp>
      <p:sp>
        <p:nvSpPr>
          <p:cNvPr id="15" name="Text 13"/>
          <p:cNvSpPr/>
          <p:nvPr/>
        </p:nvSpPr>
        <p:spPr>
          <a:xfrm>
            <a:off x="365760" y="4114800"/>
            <a:ext cx="6400800" cy="365760"/>
          </a:xfrm>
          <a:prstGeom prst="rect">
            <a:avLst/>
          </a:prstGeom>
          <a:noFill/>
          <a:ln/>
        </p:spPr>
        <p:txBody>
          <a:bodyPr wrap="square"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Dharmesh Sharma  ·  Mit Gandhi</a:t>
            </a:r>
            <a:endParaRPr lang="en-US" sz="1300" dirty="0"/>
          </a:p>
        </p:txBody>
      </p:sp>
      <p:sp>
        <p:nvSpPr>
          <p:cNvPr id="16" name="Text 14"/>
          <p:cNvSpPr/>
          <p:nvPr/>
        </p:nvSpPr>
        <p:spPr>
          <a:xfrm>
            <a:off x="365760" y="4480560"/>
            <a:ext cx="6400800" cy="320040"/>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MSML 606  ·  Project 2  ·  May 2025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indent="0" marL="0">
              <a:buNone/>
            </a:pPr>
            <a:r>
              <a:rPr lang="en-US" sz="2800" b="1" dirty="0">
                <a:solidFill>
                  <a:srgbClr val="F0F6FC"/>
                </a:solidFill>
                <a:latin typeface="Calibri" pitchFamily="34" charset="0"/>
                <a:ea typeface="Calibri" pitchFamily="34" charset="-122"/>
                <a:cs typeface="Calibri" pitchFamily="34" charset="-120"/>
              </a:rPr>
              <a:t>Problem &amp; Dataset</a:t>
            </a:r>
            <a:endParaRPr lang="en-US" sz="2800" dirty="0"/>
          </a:p>
        </p:txBody>
      </p:sp>
      <p:sp>
        <p:nvSpPr>
          <p:cNvPr id="3" name="Shape 1"/>
          <p:cNvSpPr/>
          <p:nvPr/>
        </p:nvSpPr>
        <p:spPr>
          <a:xfrm>
            <a:off x="274320" y="914400"/>
            <a:ext cx="4023360" cy="3657600"/>
          </a:xfrm>
          <a:prstGeom prst="rect">
            <a:avLst/>
          </a:prstGeom>
          <a:solidFill>
            <a:srgbClr val="161B22"/>
          </a:solidFill>
          <a:ln w="12700">
            <a:solidFill>
              <a:srgbClr val="1F6FEB"/>
            </a:solidFill>
            <a:prstDash val="solid"/>
          </a:ln>
        </p:spPr>
      </p:sp>
      <p:sp>
        <p:nvSpPr>
          <p:cNvPr id="4" name="Shape 2"/>
          <p:cNvSpPr/>
          <p:nvPr/>
        </p:nvSpPr>
        <p:spPr>
          <a:xfrm>
            <a:off x="274320" y="914400"/>
            <a:ext cx="4023360" cy="54864"/>
          </a:xfrm>
          <a:prstGeom prst="rect">
            <a:avLst/>
          </a:prstGeom>
          <a:solidFill>
            <a:srgbClr val="1F6FEB"/>
          </a:solidFill>
          <a:ln w="12700">
            <a:solidFill>
              <a:srgbClr val="1F6FEB"/>
            </a:solidFill>
            <a:prstDash val="solid"/>
          </a:ln>
        </p:spPr>
      </p:sp>
      <p:sp>
        <p:nvSpPr>
          <p:cNvPr id="5" name="Text 3"/>
          <p:cNvSpPr/>
          <p:nvPr/>
        </p:nvSpPr>
        <p:spPr>
          <a:xfrm>
            <a:off x="457200" y="1005840"/>
            <a:ext cx="3657600" cy="365760"/>
          </a:xfrm>
          <a:prstGeom prst="rect">
            <a:avLst/>
          </a:prstGeom>
          <a:noFill/>
          <a:ln/>
        </p:spPr>
        <p:txBody>
          <a:bodyPr wrap="square" rtlCol="0" anchor="ctr"/>
          <a:lstStyle/>
          <a:p>
            <a:pPr indent="0" marL="0">
              <a:buNone/>
            </a:pPr>
            <a:r>
              <a:rPr lang="en-US" sz="1200" b="1" spc="200" kern="0" dirty="0">
                <a:solidFill>
                  <a:srgbClr val="1F6FEB"/>
                </a:solidFill>
                <a:latin typeface="Calibri" pitchFamily="34" charset="0"/>
                <a:ea typeface="Calibri" pitchFamily="34" charset="-122"/>
                <a:cs typeface="Calibri" pitchFamily="34" charset="-120"/>
              </a:rPr>
              <a:t>THE PROBLEM</a:t>
            </a:r>
            <a:endParaRPr lang="en-US" sz="1200" dirty="0"/>
          </a:p>
        </p:txBody>
      </p:sp>
      <p:sp>
        <p:nvSpPr>
          <p:cNvPr id="6" name="Text 4"/>
          <p:cNvSpPr/>
          <p:nvPr/>
        </p:nvSpPr>
        <p:spPr>
          <a:xfrm>
            <a:off x="457200" y="1463040"/>
            <a:ext cx="3657600" cy="2560320"/>
          </a:xfrm>
          <a:prstGeom prst="rect">
            <a:avLst/>
          </a:prstGeom>
          <a:noFill/>
          <a:ln/>
        </p:spPr>
        <p:txBody>
          <a:bodyPr wrap="square" rtlCol="0" anchor="t"/>
          <a:lstStyle/>
          <a:p>
            <a:pPr indent="0" marL="0">
              <a:buNone/>
            </a:pPr>
            <a:r>
              <a:rPr lang="en-US" sz="1300" dirty="0">
                <a:solidFill>
                  <a:srgbClr val="8B949E"/>
                </a:solidFill>
                <a:latin typeface="Calibri" pitchFamily="34" charset="0"/>
                <a:ea typeface="Calibri" pitchFamily="34" charset="-122"/>
                <a:cs typeface="Calibri" pitchFamily="34" charset="-120"/>
              </a:rPr>
              <a:t>Companies running supply chains must answer:</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F0F6FC"/>
                </a:solidFill>
                <a:latin typeface="Calibri" pitchFamily="34" charset="0"/>
                <a:ea typeface="Calibri" pitchFamily="34" charset="-122"/>
                <a:cs typeface="Calibri" pitchFamily="34" charset="-120"/>
              </a:rPr>
              <a:t>1.  What order must operations happen in?</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F0F6FC"/>
                </a:solidFill>
                <a:latin typeface="Calibri" pitchFamily="34" charset="0"/>
                <a:ea typeface="Calibri" pitchFamily="34" charset="-122"/>
                <a:cs typeface="Calibri" pitchFamily="34" charset="-120"/>
              </a:rPr>
              <a:t>2.  What is the cheapest or fastest route from source to destination?</a:t>
            </a:r>
            <a:endParaRPr lang="en-US" sz="1300" dirty="0"/>
          </a:p>
        </p:txBody>
      </p:sp>
      <p:sp>
        <p:nvSpPr>
          <p:cNvPr id="7" name="Shape 5"/>
          <p:cNvSpPr/>
          <p:nvPr/>
        </p:nvSpPr>
        <p:spPr>
          <a:xfrm>
            <a:off x="4663440" y="914400"/>
            <a:ext cx="4206240" cy="3657600"/>
          </a:xfrm>
          <a:prstGeom prst="rect">
            <a:avLst/>
          </a:prstGeom>
          <a:solidFill>
            <a:srgbClr val="161B22"/>
          </a:solidFill>
          <a:ln w="12700">
            <a:solidFill>
              <a:srgbClr val="238636"/>
            </a:solidFill>
            <a:prstDash val="solid"/>
          </a:ln>
        </p:spPr>
      </p:sp>
      <p:sp>
        <p:nvSpPr>
          <p:cNvPr id="8" name="Shape 6"/>
          <p:cNvSpPr/>
          <p:nvPr/>
        </p:nvSpPr>
        <p:spPr>
          <a:xfrm>
            <a:off x="4663440" y="914400"/>
            <a:ext cx="4206240" cy="54864"/>
          </a:xfrm>
          <a:prstGeom prst="rect">
            <a:avLst/>
          </a:prstGeom>
          <a:solidFill>
            <a:srgbClr val="238636"/>
          </a:solidFill>
          <a:ln w="12700">
            <a:solidFill>
              <a:srgbClr val="238636"/>
            </a:solidFill>
            <a:prstDash val="solid"/>
          </a:ln>
        </p:spPr>
      </p:sp>
      <p:sp>
        <p:nvSpPr>
          <p:cNvPr id="9" name="Text 7"/>
          <p:cNvSpPr/>
          <p:nvPr/>
        </p:nvSpPr>
        <p:spPr>
          <a:xfrm>
            <a:off x="4846320" y="1005840"/>
            <a:ext cx="3657600" cy="365760"/>
          </a:xfrm>
          <a:prstGeom prst="rect">
            <a:avLst/>
          </a:prstGeom>
          <a:noFill/>
          <a:ln/>
        </p:spPr>
        <p:txBody>
          <a:bodyPr wrap="square" rtlCol="0" anchor="ctr"/>
          <a:lstStyle/>
          <a:p>
            <a:pPr indent="0" marL="0">
              <a:buNone/>
            </a:pPr>
            <a:r>
              <a:rPr lang="en-US" sz="1200" b="1" spc="200" kern="0" dirty="0">
                <a:solidFill>
                  <a:srgbClr val="238636"/>
                </a:solidFill>
                <a:latin typeface="Calibri" pitchFamily="34" charset="0"/>
                <a:ea typeface="Calibri" pitchFamily="34" charset="-122"/>
                <a:cs typeface="Calibri" pitchFamily="34" charset="-120"/>
              </a:rPr>
              <a:t>DATACO DATASET</a:t>
            </a:r>
            <a:endParaRPr lang="en-US" sz="1200" dirty="0"/>
          </a:p>
        </p:txBody>
      </p:sp>
      <p:sp>
        <p:nvSpPr>
          <p:cNvPr id="10" name="Shape 8"/>
          <p:cNvSpPr/>
          <p:nvPr/>
        </p:nvSpPr>
        <p:spPr>
          <a:xfrm>
            <a:off x="4846320" y="1554480"/>
            <a:ext cx="1828800" cy="1005840"/>
          </a:xfrm>
          <a:prstGeom prst="rect">
            <a:avLst/>
          </a:prstGeom>
          <a:solidFill>
            <a:srgbClr val="1C2128"/>
          </a:solidFill>
          <a:ln w="12700">
            <a:solidFill>
              <a:srgbClr val="30363D"/>
            </a:solidFill>
            <a:prstDash val="solid"/>
          </a:ln>
        </p:spPr>
      </p:sp>
      <p:sp>
        <p:nvSpPr>
          <p:cNvPr id="11" name="Text 9"/>
          <p:cNvSpPr/>
          <p:nvPr/>
        </p:nvSpPr>
        <p:spPr>
          <a:xfrm>
            <a:off x="4846320" y="1645920"/>
            <a:ext cx="1828800" cy="502920"/>
          </a:xfrm>
          <a:prstGeom prst="rect">
            <a:avLst/>
          </a:prstGeom>
          <a:noFill/>
          <a:ln/>
        </p:spPr>
        <p:txBody>
          <a:bodyPr wrap="square" rtlCol="0" anchor="ctr"/>
          <a:lstStyle/>
          <a:p>
            <a:pPr algn="ctr" indent="0" marL="0">
              <a:buNone/>
            </a:pPr>
            <a:r>
              <a:rPr lang="en-US" sz="2200" b="1" dirty="0">
                <a:solidFill>
                  <a:srgbClr val="238636"/>
                </a:solidFill>
                <a:latin typeface="Calibri" pitchFamily="34" charset="0"/>
                <a:ea typeface="Calibri" pitchFamily="34" charset="-122"/>
                <a:cs typeface="Calibri" pitchFamily="34" charset="-120"/>
              </a:rPr>
              <a:t>180,519</a:t>
            </a:r>
            <a:endParaRPr lang="en-US" sz="2200" dirty="0"/>
          </a:p>
        </p:txBody>
      </p:sp>
      <p:sp>
        <p:nvSpPr>
          <p:cNvPr id="12" name="Text 10"/>
          <p:cNvSpPr/>
          <p:nvPr/>
        </p:nvSpPr>
        <p:spPr>
          <a:xfrm>
            <a:off x="4846320" y="2103120"/>
            <a:ext cx="1828800" cy="365760"/>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Order Records</a:t>
            </a:r>
            <a:endParaRPr lang="en-US" sz="1000" dirty="0"/>
          </a:p>
        </p:txBody>
      </p:sp>
      <p:sp>
        <p:nvSpPr>
          <p:cNvPr id="13" name="Shape 11"/>
          <p:cNvSpPr/>
          <p:nvPr/>
        </p:nvSpPr>
        <p:spPr>
          <a:xfrm>
            <a:off x="6858000" y="1554480"/>
            <a:ext cx="1828800" cy="1005840"/>
          </a:xfrm>
          <a:prstGeom prst="rect">
            <a:avLst/>
          </a:prstGeom>
          <a:solidFill>
            <a:srgbClr val="1C2128"/>
          </a:solidFill>
          <a:ln w="12700">
            <a:solidFill>
              <a:srgbClr val="30363D"/>
            </a:solidFill>
            <a:prstDash val="solid"/>
          </a:ln>
        </p:spPr>
      </p:sp>
      <p:sp>
        <p:nvSpPr>
          <p:cNvPr id="14" name="Text 12"/>
          <p:cNvSpPr/>
          <p:nvPr/>
        </p:nvSpPr>
        <p:spPr>
          <a:xfrm>
            <a:off x="6858000" y="1645920"/>
            <a:ext cx="1828800" cy="502920"/>
          </a:xfrm>
          <a:prstGeom prst="rect">
            <a:avLst/>
          </a:prstGeom>
          <a:noFill/>
          <a:ln/>
        </p:spPr>
        <p:txBody>
          <a:bodyPr wrap="square" rtlCol="0" anchor="ctr"/>
          <a:lstStyle/>
          <a:p>
            <a:pPr algn="ctr" indent="0" marL="0">
              <a:buNone/>
            </a:pPr>
            <a:r>
              <a:rPr lang="en-US" sz="2200" b="1" dirty="0">
                <a:solidFill>
                  <a:srgbClr val="238636"/>
                </a:solidFill>
                <a:latin typeface="Calibri" pitchFamily="34" charset="0"/>
                <a:ea typeface="Calibri" pitchFamily="34" charset="-122"/>
                <a:cs typeface="Calibri" pitchFamily="34" charset="-120"/>
              </a:rPr>
              <a:t>53</a:t>
            </a:r>
            <a:endParaRPr lang="en-US" sz="2200" dirty="0"/>
          </a:p>
        </p:txBody>
      </p:sp>
      <p:sp>
        <p:nvSpPr>
          <p:cNvPr id="15" name="Text 13"/>
          <p:cNvSpPr/>
          <p:nvPr/>
        </p:nvSpPr>
        <p:spPr>
          <a:xfrm>
            <a:off x="6858000" y="2103120"/>
            <a:ext cx="1828800" cy="365760"/>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Features per Record</a:t>
            </a:r>
            <a:endParaRPr lang="en-US" sz="1000" dirty="0"/>
          </a:p>
        </p:txBody>
      </p:sp>
      <p:sp>
        <p:nvSpPr>
          <p:cNvPr id="16" name="Shape 14"/>
          <p:cNvSpPr/>
          <p:nvPr/>
        </p:nvSpPr>
        <p:spPr>
          <a:xfrm>
            <a:off x="4846320" y="2834640"/>
            <a:ext cx="1828800" cy="1005840"/>
          </a:xfrm>
          <a:prstGeom prst="rect">
            <a:avLst/>
          </a:prstGeom>
          <a:solidFill>
            <a:srgbClr val="1C2128"/>
          </a:solidFill>
          <a:ln w="12700">
            <a:solidFill>
              <a:srgbClr val="30363D"/>
            </a:solidFill>
            <a:prstDash val="solid"/>
          </a:ln>
        </p:spPr>
      </p:sp>
      <p:sp>
        <p:nvSpPr>
          <p:cNvPr id="17" name="Text 15"/>
          <p:cNvSpPr/>
          <p:nvPr/>
        </p:nvSpPr>
        <p:spPr>
          <a:xfrm>
            <a:off x="4846320" y="2926080"/>
            <a:ext cx="1828800" cy="502920"/>
          </a:xfrm>
          <a:prstGeom prst="rect">
            <a:avLst/>
          </a:prstGeom>
          <a:noFill/>
          <a:ln/>
        </p:spPr>
        <p:txBody>
          <a:bodyPr wrap="square" rtlCol="0" anchor="ctr"/>
          <a:lstStyle/>
          <a:p>
            <a:pPr algn="ctr" indent="0" marL="0">
              <a:buNone/>
            </a:pPr>
            <a:r>
              <a:rPr lang="en-US" sz="2200" b="1" dirty="0">
                <a:solidFill>
                  <a:srgbClr val="238636"/>
                </a:solidFill>
                <a:latin typeface="Calibri" pitchFamily="34" charset="0"/>
                <a:ea typeface="Calibri" pitchFamily="34" charset="-122"/>
                <a:cs typeface="Calibri" pitchFamily="34" charset="-120"/>
              </a:rPr>
              <a:t>154</a:t>
            </a:r>
            <a:endParaRPr lang="en-US" sz="2200" dirty="0"/>
          </a:p>
        </p:txBody>
      </p:sp>
      <p:sp>
        <p:nvSpPr>
          <p:cNvPr id="18" name="Text 16"/>
          <p:cNvSpPr/>
          <p:nvPr/>
        </p:nvSpPr>
        <p:spPr>
          <a:xfrm>
            <a:off x="4846320" y="3383280"/>
            <a:ext cx="1828800" cy="365760"/>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Countries Covered</a:t>
            </a:r>
            <a:endParaRPr lang="en-US" sz="1000" dirty="0"/>
          </a:p>
        </p:txBody>
      </p:sp>
      <p:sp>
        <p:nvSpPr>
          <p:cNvPr id="19" name="Shape 17"/>
          <p:cNvSpPr/>
          <p:nvPr/>
        </p:nvSpPr>
        <p:spPr>
          <a:xfrm>
            <a:off x="6858000" y="2834640"/>
            <a:ext cx="1828800" cy="1005840"/>
          </a:xfrm>
          <a:prstGeom prst="rect">
            <a:avLst/>
          </a:prstGeom>
          <a:solidFill>
            <a:srgbClr val="1C2128"/>
          </a:solidFill>
          <a:ln w="12700">
            <a:solidFill>
              <a:srgbClr val="30363D"/>
            </a:solidFill>
            <a:prstDash val="solid"/>
          </a:ln>
        </p:spPr>
      </p:sp>
      <p:sp>
        <p:nvSpPr>
          <p:cNvPr id="20" name="Text 18"/>
          <p:cNvSpPr/>
          <p:nvPr/>
        </p:nvSpPr>
        <p:spPr>
          <a:xfrm>
            <a:off x="6858000" y="2926080"/>
            <a:ext cx="1828800" cy="502920"/>
          </a:xfrm>
          <a:prstGeom prst="rect">
            <a:avLst/>
          </a:prstGeom>
          <a:noFill/>
          <a:ln/>
        </p:spPr>
        <p:txBody>
          <a:bodyPr wrap="square" rtlCol="0" anchor="ctr"/>
          <a:lstStyle/>
          <a:p>
            <a:pPr algn="ctr" indent="0" marL="0">
              <a:buNone/>
            </a:pPr>
            <a:r>
              <a:rPr lang="en-US" sz="2200" b="1" dirty="0">
                <a:solidFill>
                  <a:srgbClr val="238636"/>
                </a:solidFill>
                <a:latin typeface="Calibri" pitchFamily="34" charset="0"/>
                <a:ea typeface="Calibri" pitchFamily="34" charset="-122"/>
                <a:cs typeface="Calibri" pitchFamily="34" charset="-120"/>
              </a:rPr>
              <a:t>3,207</a:t>
            </a:r>
            <a:endParaRPr lang="en-US" sz="2200" dirty="0"/>
          </a:p>
        </p:txBody>
      </p:sp>
      <p:sp>
        <p:nvSpPr>
          <p:cNvPr id="21" name="Text 19"/>
          <p:cNvSpPr/>
          <p:nvPr/>
        </p:nvSpPr>
        <p:spPr>
          <a:xfrm>
            <a:off x="6858000" y="3383280"/>
            <a:ext cx="1828800" cy="365760"/>
          </a:xfrm>
          <a:prstGeom prst="rect">
            <a:avLst/>
          </a:prstGeom>
          <a:noFill/>
          <a:ln/>
        </p:spPr>
        <p:txBody>
          <a:bodyPr wrap="square" rtlCol="0" anchor="ctr"/>
          <a:lstStyle/>
          <a:p>
            <a:pPr algn="ctr" indent="0" marL="0">
              <a:buNone/>
            </a:pPr>
            <a:r>
              <a:rPr lang="en-US" sz="1000" dirty="0">
                <a:solidFill>
                  <a:srgbClr val="8B949E"/>
                </a:solidFill>
                <a:latin typeface="Calibri" pitchFamily="34" charset="0"/>
                <a:ea typeface="Calibri" pitchFamily="34" charset="-122"/>
                <a:cs typeface="Calibri" pitchFamily="34" charset="-120"/>
              </a:rPr>
              <a:t>Destination Cities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indent="0" marL="0">
              <a:buNone/>
            </a:pPr>
            <a:r>
              <a:rPr lang="en-US" sz="2800" b="1" dirty="0">
                <a:solidFill>
                  <a:srgbClr val="F0F6FC"/>
                </a:solidFill>
                <a:latin typeface="Calibri" pitchFamily="34" charset="0"/>
                <a:ea typeface="Calibri" pitchFamily="34" charset="-122"/>
                <a:cs typeface="Calibri" pitchFamily="34" charset="-120"/>
              </a:rPr>
              <a:t>Graph Structure</a:t>
            </a:r>
            <a:endParaRPr lang="en-US" sz="2800" dirty="0"/>
          </a:p>
        </p:txBody>
      </p:sp>
      <p:sp>
        <p:nvSpPr>
          <p:cNvPr id="3" name="Text 1"/>
          <p:cNvSpPr/>
          <p:nvPr/>
        </p:nvSpPr>
        <p:spPr>
          <a:xfrm>
            <a:off x="365760" y="749808"/>
            <a:ext cx="8412480" cy="320040"/>
          </a:xfrm>
          <a:prstGeom prst="rect">
            <a:avLst/>
          </a:prstGeom>
          <a:noFill/>
          <a:ln/>
        </p:spPr>
        <p:txBody>
          <a:bodyPr wrap="square" rtlCol="0" anchor="ctr"/>
          <a:lstStyle/>
          <a:p>
            <a:pPr indent="0" marL="0">
              <a:buNone/>
            </a:pPr>
            <a:r>
              <a:rPr lang="en-US" sz="1300" dirty="0">
                <a:solidFill>
                  <a:srgbClr val="8B949E"/>
                </a:solidFill>
                <a:latin typeface="Calibri" pitchFamily="34" charset="0"/>
                <a:ea typeface="Calibri" pitchFamily="34" charset="-122"/>
                <a:cs typeface="Calibri" pitchFamily="34" charset="-120"/>
              </a:rPr>
              <a:t>Directed Acyclic Graph (DAG): goods flow strictly forward</a:t>
            </a:r>
            <a:endParaRPr lang="en-US" sz="1300" dirty="0"/>
          </a:p>
        </p:txBody>
      </p:sp>
      <p:sp>
        <p:nvSpPr>
          <p:cNvPr id="4" name="Shape 2"/>
          <p:cNvSpPr/>
          <p:nvPr/>
        </p:nvSpPr>
        <p:spPr>
          <a:xfrm>
            <a:off x="274320" y="1280160"/>
            <a:ext cx="1920240" cy="3291840"/>
          </a:xfrm>
          <a:prstGeom prst="rect">
            <a:avLst/>
          </a:prstGeom>
          <a:solidFill>
            <a:srgbClr val="161B22"/>
          </a:solidFill>
          <a:ln w="12700">
            <a:solidFill>
              <a:srgbClr val="1F6FEB"/>
            </a:solidFill>
            <a:prstDash val="solid"/>
          </a:ln>
        </p:spPr>
      </p:sp>
      <p:sp>
        <p:nvSpPr>
          <p:cNvPr id="5" name="Shape 3"/>
          <p:cNvSpPr/>
          <p:nvPr/>
        </p:nvSpPr>
        <p:spPr>
          <a:xfrm>
            <a:off x="274320" y="1280160"/>
            <a:ext cx="1920240" cy="411480"/>
          </a:xfrm>
          <a:prstGeom prst="rect">
            <a:avLst/>
          </a:prstGeom>
          <a:solidFill>
            <a:srgbClr val="1F6FEB"/>
          </a:solidFill>
          <a:ln w="12700">
            <a:solidFill>
              <a:srgbClr val="1F6FEB"/>
            </a:solidFill>
            <a:prstDash val="solid"/>
          </a:ln>
        </p:spPr>
      </p:sp>
      <p:sp>
        <p:nvSpPr>
          <p:cNvPr id="6" name="Text 4"/>
          <p:cNvSpPr/>
          <p:nvPr/>
        </p:nvSpPr>
        <p:spPr>
          <a:xfrm>
            <a:off x="274320" y="1280160"/>
            <a:ext cx="192024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Market</a:t>
            </a:r>
            <a:endParaRPr lang="en-US" sz="1400" dirty="0"/>
          </a:p>
        </p:txBody>
      </p:sp>
      <p:sp>
        <p:nvSpPr>
          <p:cNvPr id="7" name="Text 5"/>
          <p:cNvSpPr/>
          <p:nvPr/>
        </p:nvSpPr>
        <p:spPr>
          <a:xfrm>
            <a:off x="365760" y="1783080"/>
            <a:ext cx="1737360" cy="2560320"/>
          </a:xfrm>
          <a:prstGeom prst="rect">
            <a:avLst/>
          </a:prstGeom>
          <a:noFill/>
          <a:ln/>
        </p:spPr>
        <p:txBody>
          <a:bodyPr wrap="square" rtlCol="0" anchor="t"/>
          <a:lstStyle/>
          <a:p>
            <a:pPr indent="0" marL="0">
              <a:buNone/>
            </a:pPr>
            <a:r>
              <a:rPr lang="en-US" sz="1100" dirty="0">
                <a:solidFill>
                  <a:srgbClr val="8B949E"/>
                </a:solidFill>
                <a:latin typeface="Calibri" pitchFamily="34" charset="0"/>
                <a:ea typeface="Calibri" pitchFamily="34" charset="-122"/>
                <a:cs typeface="Calibri" pitchFamily="34" charset="-120"/>
              </a:rPr>
              <a:t>Africa</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Europe</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USCA</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+ 2 more</a:t>
            </a:r>
            <a:endParaRPr lang="en-US" sz="1100" dirty="0"/>
          </a:p>
        </p:txBody>
      </p:sp>
      <p:sp>
        <p:nvSpPr>
          <p:cNvPr id="8" name="Shape 6"/>
          <p:cNvSpPr/>
          <p:nvPr/>
        </p:nvSpPr>
        <p:spPr>
          <a:xfrm>
            <a:off x="2194560" y="2926080"/>
            <a:ext cx="548640" cy="0"/>
          </a:xfrm>
          <a:prstGeom prst="line">
            <a:avLst/>
          </a:prstGeom>
          <a:noFill/>
          <a:ln w="19050">
            <a:solidFill>
              <a:srgbClr val="8B949E"/>
            </a:solidFill>
            <a:prstDash val="dash"/>
          </a:ln>
        </p:spPr>
      </p:sp>
      <p:sp>
        <p:nvSpPr>
          <p:cNvPr id="9" name="Text 7"/>
          <p:cNvSpPr/>
          <p:nvPr/>
        </p:nvSpPr>
        <p:spPr>
          <a:xfrm>
            <a:off x="2514600" y="2788920"/>
            <a:ext cx="274320" cy="274320"/>
          </a:xfrm>
          <a:prstGeom prst="rect">
            <a:avLst/>
          </a:prstGeom>
          <a:noFill/>
          <a:ln/>
        </p:spPr>
        <p:txBody>
          <a:bodyPr wrap="square" rtlCol="0" anchor="ctr"/>
          <a:lstStyle/>
          <a:p>
            <a:pPr algn="ctr" indent="0" marL="0">
              <a:buNone/>
            </a:pPr>
            <a:r>
              <a:rPr lang="en-US" sz="1400" dirty="0">
                <a:solidFill>
                  <a:srgbClr val="8B949E"/>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468880" y="1280160"/>
            <a:ext cx="1920240" cy="3291840"/>
          </a:xfrm>
          <a:prstGeom prst="rect">
            <a:avLst/>
          </a:prstGeom>
          <a:solidFill>
            <a:srgbClr val="161B22"/>
          </a:solidFill>
          <a:ln w="12700">
            <a:solidFill>
              <a:srgbClr val="E88C0E"/>
            </a:solidFill>
            <a:prstDash val="solid"/>
          </a:ln>
        </p:spPr>
      </p:sp>
      <p:sp>
        <p:nvSpPr>
          <p:cNvPr id="11" name="Shape 9"/>
          <p:cNvSpPr/>
          <p:nvPr/>
        </p:nvSpPr>
        <p:spPr>
          <a:xfrm>
            <a:off x="2468880" y="1280160"/>
            <a:ext cx="1920240" cy="411480"/>
          </a:xfrm>
          <a:prstGeom prst="rect">
            <a:avLst/>
          </a:prstGeom>
          <a:solidFill>
            <a:srgbClr val="E88C0E"/>
          </a:solidFill>
          <a:ln w="12700">
            <a:solidFill>
              <a:srgbClr val="E88C0E"/>
            </a:solidFill>
            <a:prstDash val="solid"/>
          </a:ln>
        </p:spPr>
      </p:sp>
      <p:sp>
        <p:nvSpPr>
          <p:cNvPr id="12" name="Text 10"/>
          <p:cNvSpPr/>
          <p:nvPr/>
        </p:nvSpPr>
        <p:spPr>
          <a:xfrm>
            <a:off x="2468880" y="1280160"/>
            <a:ext cx="192024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Region</a:t>
            </a:r>
            <a:endParaRPr lang="en-US" sz="1400" dirty="0"/>
          </a:p>
        </p:txBody>
      </p:sp>
      <p:sp>
        <p:nvSpPr>
          <p:cNvPr id="13" name="Text 11"/>
          <p:cNvSpPr/>
          <p:nvPr/>
        </p:nvSpPr>
        <p:spPr>
          <a:xfrm>
            <a:off x="2560320" y="1783080"/>
            <a:ext cx="1737360" cy="2560320"/>
          </a:xfrm>
          <a:prstGeom prst="rect">
            <a:avLst/>
          </a:prstGeom>
          <a:noFill/>
          <a:ln/>
        </p:spPr>
        <p:txBody>
          <a:bodyPr wrap="square" rtlCol="0" anchor="t"/>
          <a:lstStyle/>
          <a:p>
            <a:pPr indent="0" marL="0">
              <a:buNone/>
            </a:pPr>
            <a:r>
              <a:rPr lang="en-US" sz="1100" dirty="0">
                <a:solidFill>
                  <a:srgbClr val="8B949E"/>
                </a:solidFill>
                <a:latin typeface="Calibri" pitchFamily="34" charset="0"/>
                <a:ea typeface="Calibri" pitchFamily="34" charset="-122"/>
                <a:cs typeface="Calibri" pitchFamily="34" charset="-120"/>
              </a:rPr>
              <a:t>Southeast Asia</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Western Europe</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+ 20 more</a:t>
            </a:r>
            <a:endParaRPr lang="en-US" sz="1100" dirty="0"/>
          </a:p>
        </p:txBody>
      </p:sp>
      <p:sp>
        <p:nvSpPr>
          <p:cNvPr id="14" name="Shape 12"/>
          <p:cNvSpPr/>
          <p:nvPr/>
        </p:nvSpPr>
        <p:spPr>
          <a:xfrm>
            <a:off x="4389120" y="2926080"/>
            <a:ext cx="548640" cy="0"/>
          </a:xfrm>
          <a:prstGeom prst="line">
            <a:avLst/>
          </a:prstGeom>
          <a:noFill/>
          <a:ln w="19050">
            <a:solidFill>
              <a:srgbClr val="8B949E"/>
            </a:solidFill>
            <a:prstDash val="dash"/>
          </a:ln>
        </p:spPr>
      </p:sp>
      <p:sp>
        <p:nvSpPr>
          <p:cNvPr id="15" name="Text 13"/>
          <p:cNvSpPr/>
          <p:nvPr/>
        </p:nvSpPr>
        <p:spPr>
          <a:xfrm>
            <a:off x="4709160" y="2788920"/>
            <a:ext cx="274320" cy="274320"/>
          </a:xfrm>
          <a:prstGeom prst="rect">
            <a:avLst/>
          </a:prstGeom>
          <a:noFill/>
          <a:ln/>
        </p:spPr>
        <p:txBody>
          <a:bodyPr wrap="square" rtlCol="0" anchor="ctr"/>
          <a:lstStyle/>
          <a:p>
            <a:pPr algn="ctr" indent="0" marL="0">
              <a:buNone/>
            </a:pPr>
            <a:r>
              <a:rPr lang="en-US" sz="1400" dirty="0">
                <a:solidFill>
                  <a:srgbClr val="8B949E"/>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4663440" y="1280160"/>
            <a:ext cx="1920240" cy="3291840"/>
          </a:xfrm>
          <a:prstGeom prst="rect">
            <a:avLst/>
          </a:prstGeom>
          <a:solidFill>
            <a:srgbClr val="161B22"/>
          </a:solidFill>
          <a:ln w="12700">
            <a:solidFill>
              <a:srgbClr val="8957E5"/>
            </a:solidFill>
            <a:prstDash val="solid"/>
          </a:ln>
        </p:spPr>
      </p:sp>
      <p:sp>
        <p:nvSpPr>
          <p:cNvPr id="17" name="Shape 15"/>
          <p:cNvSpPr/>
          <p:nvPr/>
        </p:nvSpPr>
        <p:spPr>
          <a:xfrm>
            <a:off x="4663440" y="1280160"/>
            <a:ext cx="1920240" cy="411480"/>
          </a:xfrm>
          <a:prstGeom prst="rect">
            <a:avLst/>
          </a:prstGeom>
          <a:solidFill>
            <a:srgbClr val="8957E5"/>
          </a:solidFill>
          <a:ln w="12700">
            <a:solidFill>
              <a:srgbClr val="8957E5"/>
            </a:solidFill>
            <a:prstDash val="solid"/>
          </a:ln>
        </p:spPr>
      </p:sp>
      <p:sp>
        <p:nvSpPr>
          <p:cNvPr id="18" name="Text 16"/>
          <p:cNvSpPr/>
          <p:nvPr/>
        </p:nvSpPr>
        <p:spPr>
          <a:xfrm>
            <a:off x="4663440" y="1280160"/>
            <a:ext cx="192024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Country</a:t>
            </a:r>
            <a:endParaRPr lang="en-US" sz="1400" dirty="0"/>
          </a:p>
        </p:txBody>
      </p:sp>
      <p:sp>
        <p:nvSpPr>
          <p:cNvPr id="19" name="Text 17"/>
          <p:cNvSpPr/>
          <p:nvPr/>
        </p:nvSpPr>
        <p:spPr>
          <a:xfrm>
            <a:off x="4754880" y="1783080"/>
            <a:ext cx="1737360" cy="2560320"/>
          </a:xfrm>
          <a:prstGeom prst="rect">
            <a:avLst/>
          </a:prstGeom>
          <a:noFill/>
          <a:ln/>
        </p:spPr>
        <p:txBody>
          <a:bodyPr wrap="square" rtlCol="0" anchor="t"/>
          <a:lstStyle/>
          <a:p>
            <a:pPr indent="0" marL="0">
              <a:buNone/>
            </a:pPr>
            <a:r>
              <a:rPr lang="en-US" sz="1100" dirty="0">
                <a:solidFill>
                  <a:srgbClr val="8B949E"/>
                </a:solidFill>
                <a:latin typeface="Calibri" pitchFamily="34" charset="0"/>
                <a:ea typeface="Calibri" pitchFamily="34" charset="-122"/>
                <a:cs typeface="Calibri" pitchFamily="34" charset="-120"/>
              </a:rPr>
              <a:t>France</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India</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Brazil</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+ 151 more</a:t>
            </a:r>
            <a:endParaRPr lang="en-US" sz="1100" dirty="0"/>
          </a:p>
        </p:txBody>
      </p:sp>
      <p:sp>
        <p:nvSpPr>
          <p:cNvPr id="20" name="Shape 18"/>
          <p:cNvSpPr/>
          <p:nvPr/>
        </p:nvSpPr>
        <p:spPr>
          <a:xfrm>
            <a:off x="6583680" y="2926080"/>
            <a:ext cx="548640" cy="0"/>
          </a:xfrm>
          <a:prstGeom prst="line">
            <a:avLst/>
          </a:prstGeom>
          <a:noFill/>
          <a:ln w="19050">
            <a:solidFill>
              <a:srgbClr val="8B949E"/>
            </a:solidFill>
            <a:prstDash val="dash"/>
          </a:ln>
        </p:spPr>
      </p:sp>
      <p:sp>
        <p:nvSpPr>
          <p:cNvPr id="21" name="Text 19"/>
          <p:cNvSpPr/>
          <p:nvPr/>
        </p:nvSpPr>
        <p:spPr>
          <a:xfrm>
            <a:off x="6903720" y="2788920"/>
            <a:ext cx="274320" cy="274320"/>
          </a:xfrm>
          <a:prstGeom prst="rect">
            <a:avLst/>
          </a:prstGeom>
          <a:noFill/>
          <a:ln/>
        </p:spPr>
        <p:txBody>
          <a:bodyPr wrap="square" rtlCol="0" anchor="ctr"/>
          <a:lstStyle/>
          <a:p>
            <a:pPr algn="ctr" indent="0" marL="0">
              <a:buNone/>
            </a:pPr>
            <a:r>
              <a:rPr lang="en-US" sz="1400" dirty="0">
                <a:solidFill>
                  <a:srgbClr val="8B949E"/>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6858000" y="1280160"/>
            <a:ext cx="1920240" cy="3291840"/>
          </a:xfrm>
          <a:prstGeom prst="rect">
            <a:avLst/>
          </a:prstGeom>
          <a:solidFill>
            <a:srgbClr val="161B22"/>
          </a:solidFill>
          <a:ln w="12700">
            <a:solidFill>
              <a:srgbClr val="238636"/>
            </a:solidFill>
            <a:prstDash val="solid"/>
          </a:ln>
        </p:spPr>
      </p:sp>
      <p:sp>
        <p:nvSpPr>
          <p:cNvPr id="23" name="Shape 21"/>
          <p:cNvSpPr/>
          <p:nvPr/>
        </p:nvSpPr>
        <p:spPr>
          <a:xfrm>
            <a:off x="6858000" y="1280160"/>
            <a:ext cx="1920240" cy="411480"/>
          </a:xfrm>
          <a:prstGeom prst="rect">
            <a:avLst/>
          </a:prstGeom>
          <a:solidFill>
            <a:srgbClr val="238636"/>
          </a:solidFill>
          <a:ln w="12700">
            <a:solidFill>
              <a:srgbClr val="238636"/>
            </a:solidFill>
            <a:prstDash val="solid"/>
          </a:ln>
        </p:spPr>
      </p:sp>
      <p:sp>
        <p:nvSpPr>
          <p:cNvPr id="24" name="Text 22"/>
          <p:cNvSpPr/>
          <p:nvPr/>
        </p:nvSpPr>
        <p:spPr>
          <a:xfrm>
            <a:off x="6858000" y="1280160"/>
            <a:ext cx="192024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City</a:t>
            </a:r>
            <a:endParaRPr lang="en-US" sz="1400" dirty="0"/>
          </a:p>
        </p:txBody>
      </p:sp>
      <p:sp>
        <p:nvSpPr>
          <p:cNvPr id="25" name="Text 23"/>
          <p:cNvSpPr/>
          <p:nvPr/>
        </p:nvSpPr>
        <p:spPr>
          <a:xfrm>
            <a:off x="6949440" y="1783080"/>
            <a:ext cx="1737360" cy="2560320"/>
          </a:xfrm>
          <a:prstGeom prst="rect">
            <a:avLst/>
          </a:prstGeom>
          <a:noFill/>
          <a:ln/>
        </p:spPr>
        <p:txBody>
          <a:bodyPr wrap="square" rtlCol="0" anchor="t"/>
          <a:lstStyle/>
          <a:p>
            <a:pPr indent="0" marL="0">
              <a:buNone/>
            </a:pPr>
            <a:r>
              <a:rPr lang="en-US" sz="1100" dirty="0">
                <a:solidFill>
                  <a:srgbClr val="8B949E"/>
                </a:solidFill>
                <a:latin typeface="Calibri" pitchFamily="34" charset="0"/>
                <a:ea typeface="Calibri" pitchFamily="34" charset="-122"/>
                <a:cs typeface="Calibri" pitchFamily="34" charset="-120"/>
              </a:rPr>
              <a:t>Paris</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Mumbai</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Toronto</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+ 3204 more</a:t>
            </a:r>
            <a:endParaRPr lang="en-US" sz="1100" dirty="0"/>
          </a:p>
        </p:txBody>
      </p:sp>
      <p:sp>
        <p:nvSpPr>
          <p:cNvPr id="26" name="Shape 24"/>
          <p:cNvSpPr/>
          <p:nvPr/>
        </p:nvSpPr>
        <p:spPr>
          <a:xfrm>
            <a:off x="274320" y="4663440"/>
            <a:ext cx="2651760" cy="365760"/>
          </a:xfrm>
          <a:prstGeom prst="rect">
            <a:avLst/>
          </a:prstGeom>
          <a:solidFill>
            <a:srgbClr val="1C2128"/>
          </a:solidFill>
          <a:ln w="12700">
            <a:solidFill>
              <a:srgbClr val="30363D"/>
            </a:solidFill>
            <a:prstDash val="solid"/>
          </a:ln>
        </p:spPr>
      </p:sp>
      <p:sp>
        <p:nvSpPr>
          <p:cNvPr id="27" name="Text 25"/>
          <p:cNvSpPr/>
          <p:nvPr/>
        </p:nvSpPr>
        <p:spPr>
          <a:xfrm>
            <a:off x="274320" y="4663440"/>
            <a:ext cx="2651760" cy="365760"/>
          </a:xfrm>
          <a:prstGeom prst="rect">
            <a:avLst/>
          </a:prstGeom>
          <a:noFill/>
          <a:ln/>
        </p:spPr>
        <p:txBody>
          <a:bodyPr wrap="square" rtlCol="0" anchor="ctr"/>
          <a:lstStyle/>
          <a:p>
            <a:pPr algn="ctr" indent="0" marL="0">
              <a:buNone/>
            </a:pPr>
            <a:r>
              <a:rPr lang="en-US" sz="1200" b="1" dirty="0">
                <a:solidFill>
                  <a:srgbClr val="238636"/>
                </a:solidFill>
                <a:latin typeface="Calibri" pitchFamily="34" charset="0"/>
                <a:ea typeface="Calibri" pitchFamily="34" charset="-122"/>
                <a:cs typeface="Calibri" pitchFamily="34" charset="-120"/>
              </a:rPr>
              <a:t>3,389  Total Nodes</a:t>
            </a:r>
            <a:endParaRPr lang="en-US" sz="1200" dirty="0"/>
          </a:p>
        </p:txBody>
      </p:sp>
      <p:sp>
        <p:nvSpPr>
          <p:cNvPr id="28" name="Shape 26"/>
          <p:cNvSpPr/>
          <p:nvPr/>
        </p:nvSpPr>
        <p:spPr>
          <a:xfrm>
            <a:off x="3200400" y="4663440"/>
            <a:ext cx="2651760" cy="365760"/>
          </a:xfrm>
          <a:prstGeom prst="rect">
            <a:avLst/>
          </a:prstGeom>
          <a:solidFill>
            <a:srgbClr val="1C2128"/>
          </a:solidFill>
          <a:ln w="12700">
            <a:solidFill>
              <a:srgbClr val="30363D"/>
            </a:solidFill>
            <a:prstDash val="solid"/>
          </a:ln>
        </p:spPr>
      </p:sp>
      <p:sp>
        <p:nvSpPr>
          <p:cNvPr id="29" name="Text 27"/>
          <p:cNvSpPr/>
          <p:nvPr/>
        </p:nvSpPr>
        <p:spPr>
          <a:xfrm>
            <a:off x="3200400" y="4663440"/>
            <a:ext cx="2651760" cy="365760"/>
          </a:xfrm>
          <a:prstGeom prst="rect">
            <a:avLst/>
          </a:prstGeom>
          <a:noFill/>
          <a:ln/>
        </p:spPr>
        <p:txBody>
          <a:bodyPr wrap="square" rtlCol="0" anchor="ctr"/>
          <a:lstStyle/>
          <a:p>
            <a:pPr algn="ctr" indent="0" marL="0">
              <a:buNone/>
            </a:pPr>
            <a:r>
              <a:rPr lang="en-US" sz="1200" b="1" dirty="0">
                <a:solidFill>
                  <a:srgbClr val="238636"/>
                </a:solidFill>
                <a:latin typeface="Calibri" pitchFamily="34" charset="0"/>
                <a:ea typeface="Calibri" pitchFamily="34" charset="-122"/>
                <a:cs typeface="Calibri" pitchFamily="34" charset="-120"/>
              </a:rPr>
              <a:t>3,442  Total Edges</a:t>
            </a:r>
            <a:endParaRPr lang="en-US" sz="1200" dirty="0"/>
          </a:p>
        </p:txBody>
      </p:sp>
      <p:sp>
        <p:nvSpPr>
          <p:cNvPr id="30" name="Shape 28"/>
          <p:cNvSpPr/>
          <p:nvPr/>
        </p:nvSpPr>
        <p:spPr>
          <a:xfrm>
            <a:off x="6126480" y="4663440"/>
            <a:ext cx="2651760" cy="365760"/>
          </a:xfrm>
          <a:prstGeom prst="rect">
            <a:avLst/>
          </a:prstGeom>
          <a:solidFill>
            <a:srgbClr val="1C2128"/>
          </a:solidFill>
          <a:ln w="12700">
            <a:solidFill>
              <a:srgbClr val="30363D"/>
            </a:solidFill>
            <a:prstDash val="solid"/>
          </a:ln>
        </p:spPr>
      </p:sp>
      <p:sp>
        <p:nvSpPr>
          <p:cNvPr id="31" name="Text 29"/>
          <p:cNvSpPr/>
          <p:nvPr/>
        </p:nvSpPr>
        <p:spPr>
          <a:xfrm>
            <a:off x="6126480" y="4663440"/>
            <a:ext cx="2651760" cy="365760"/>
          </a:xfrm>
          <a:prstGeom prst="rect">
            <a:avLst/>
          </a:prstGeom>
          <a:noFill/>
          <a:ln/>
        </p:spPr>
        <p:txBody>
          <a:bodyPr wrap="square" rtlCol="0" anchor="ctr"/>
          <a:lstStyle/>
          <a:p>
            <a:pPr algn="ctr" indent="0" marL="0">
              <a:buNone/>
            </a:pPr>
            <a:r>
              <a:rPr lang="en-US" sz="1200" b="1" dirty="0">
                <a:solidFill>
                  <a:srgbClr val="238636"/>
                </a:solidFill>
                <a:latin typeface="Calibri" pitchFamily="34" charset="0"/>
                <a:ea typeface="Calibri" pitchFamily="34" charset="-122"/>
                <a:cs typeface="Calibri" pitchFamily="34" charset="-120"/>
              </a:rPr>
              <a:t>✓ DAG  Acyclic Verified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indent="0" marL="0">
              <a:buNone/>
            </a:pPr>
            <a:r>
              <a:rPr lang="en-US" sz="2800" b="1" dirty="0">
                <a:solidFill>
                  <a:srgbClr val="F0F6FC"/>
                </a:solidFill>
                <a:latin typeface="Calibri" pitchFamily="34" charset="0"/>
                <a:ea typeface="Calibri" pitchFamily="34" charset="-122"/>
                <a:cs typeface="Calibri" pitchFamily="34" charset="-120"/>
              </a:rPr>
              <a:t>Algorithms</a:t>
            </a:r>
            <a:endParaRPr lang="en-US" sz="2800" dirty="0"/>
          </a:p>
        </p:txBody>
      </p:sp>
      <p:sp>
        <p:nvSpPr>
          <p:cNvPr id="3" name="Shape 1"/>
          <p:cNvSpPr/>
          <p:nvPr/>
        </p:nvSpPr>
        <p:spPr>
          <a:xfrm>
            <a:off x="274320" y="914400"/>
            <a:ext cx="4114800" cy="3931920"/>
          </a:xfrm>
          <a:prstGeom prst="rect">
            <a:avLst/>
          </a:prstGeom>
          <a:solidFill>
            <a:srgbClr val="161B22"/>
          </a:solidFill>
          <a:ln w="12700">
            <a:solidFill>
              <a:srgbClr val="1F6FEB"/>
            </a:solidFill>
            <a:prstDash val="solid"/>
          </a:ln>
        </p:spPr>
      </p:sp>
      <p:sp>
        <p:nvSpPr>
          <p:cNvPr id="4" name="Text 2"/>
          <p:cNvSpPr/>
          <p:nvPr/>
        </p:nvSpPr>
        <p:spPr>
          <a:xfrm>
            <a:off x="365760" y="1005840"/>
            <a:ext cx="731520" cy="548640"/>
          </a:xfrm>
          <a:prstGeom prst="rect">
            <a:avLst/>
          </a:prstGeom>
          <a:noFill/>
          <a:ln/>
        </p:spPr>
        <p:txBody>
          <a:bodyPr wrap="square" rtlCol="0" anchor="ctr"/>
          <a:lstStyle/>
          <a:p>
            <a:pPr indent="0" marL="0">
              <a:buNone/>
            </a:pPr>
            <a:r>
              <a:rPr lang="en-US" sz="2800" b="1" dirty="0">
                <a:solidFill>
                  <a:srgbClr val="1F6FEB"/>
                </a:solidFill>
                <a:latin typeface="Calibri" pitchFamily="34" charset="0"/>
                <a:ea typeface="Calibri" pitchFamily="34" charset="-122"/>
                <a:cs typeface="Calibri" pitchFamily="34" charset="-120"/>
              </a:rPr>
              <a:t>01</a:t>
            </a:r>
            <a:endParaRPr lang="en-US" sz="2800" dirty="0"/>
          </a:p>
        </p:txBody>
      </p:sp>
      <p:sp>
        <p:nvSpPr>
          <p:cNvPr id="5" name="Text 3"/>
          <p:cNvSpPr/>
          <p:nvPr/>
        </p:nvSpPr>
        <p:spPr>
          <a:xfrm>
            <a:off x="365760" y="1508760"/>
            <a:ext cx="3749040" cy="411480"/>
          </a:xfrm>
          <a:prstGeom prst="rect">
            <a:avLst/>
          </a:prstGeom>
          <a:noFill/>
          <a:ln/>
        </p:spPr>
        <p:txBody>
          <a:bodyPr wrap="square" rtlCol="0" anchor="ctr"/>
          <a:lstStyle/>
          <a:p>
            <a:pPr indent="0" marL="0">
              <a:buNone/>
            </a:pPr>
            <a:r>
              <a:rPr lang="en-US" sz="1500" b="1" dirty="0">
                <a:solidFill>
                  <a:srgbClr val="F0F6FC"/>
                </a:solidFill>
                <a:latin typeface="Calibri" pitchFamily="34" charset="0"/>
                <a:ea typeface="Calibri" pitchFamily="34" charset="-122"/>
                <a:cs typeface="Calibri" pitchFamily="34" charset="-120"/>
              </a:rPr>
              <a:t>Kahn's Topological Sort</a:t>
            </a:r>
            <a:endParaRPr lang="en-US" sz="1500" dirty="0"/>
          </a:p>
        </p:txBody>
      </p:sp>
      <p:sp>
        <p:nvSpPr>
          <p:cNvPr id="6" name="Text 4"/>
          <p:cNvSpPr/>
          <p:nvPr/>
        </p:nvSpPr>
        <p:spPr>
          <a:xfrm>
            <a:off x="457200" y="1965960"/>
            <a:ext cx="3749040" cy="2743200"/>
          </a:xfrm>
          <a:prstGeom prst="rect">
            <a:avLst/>
          </a:prstGeom>
          <a:noFill/>
          <a:ln/>
        </p:spPr>
        <p:txBody>
          <a:bodyPr wrap="square" rtlCol="0" anchor="t"/>
          <a:lstStyle/>
          <a:p>
            <a:pPr indent="0" marL="0">
              <a:buNone/>
            </a:pPr>
            <a:r>
              <a:rPr lang="en-US" sz="1200" dirty="0">
                <a:solidFill>
                  <a:srgbClr val="8B949E"/>
                </a:solidFill>
                <a:latin typeface="Calibri" pitchFamily="34" charset="0"/>
                <a:ea typeface="Calibri" pitchFamily="34" charset="-122"/>
                <a:cs typeface="Calibri" pitchFamily="34" charset="-120"/>
              </a:rPr>
              <a:t>Ensures supply chain stages are scheduled in the correct dependency order, ensuring no stage runs before its predecessor.</a:t>
            </a:r>
            <a:endParaRPr lang="en-US" sz="12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F0F6FC"/>
                </a:solidFill>
                <a:latin typeface="Calibri" pitchFamily="34" charset="0"/>
                <a:ea typeface="Calibri" pitchFamily="34" charset="-122"/>
                <a:cs typeface="Calibri" pitchFamily="34" charset="-120"/>
              </a:rPr>
              <a:t>How it works:</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1. Compute in-degree of all nodes</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2. Enqueue nodes with in-degree = 0</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3. Process queue, decrement neighbors</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4. Repeat until all nodes processed</a:t>
            </a:r>
            <a:endParaRPr lang="en-US" sz="12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1F6FEB"/>
                </a:solidFill>
                <a:latin typeface="Calibri" pitchFamily="34" charset="0"/>
                <a:ea typeface="Calibri" pitchFamily="34" charset="-122"/>
                <a:cs typeface="Calibri" pitchFamily="34" charset="-120"/>
              </a:rPr>
              <a:t>Complexity: O(V + E)</a:t>
            </a:r>
            <a:endParaRPr lang="en-US" sz="1200" dirty="0"/>
          </a:p>
        </p:txBody>
      </p:sp>
      <p:sp>
        <p:nvSpPr>
          <p:cNvPr id="7" name="Shape 5"/>
          <p:cNvSpPr/>
          <p:nvPr/>
        </p:nvSpPr>
        <p:spPr>
          <a:xfrm>
            <a:off x="4754880" y="914400"/>
            <a:ext cx="4114800" cy="3931920"/>
          </a:xfrm>
          <a:prstGeom prst="rect">
            <a:avLst/>
          </a:prstGeom>
          <a:solidFill>
            <a:srgbClr val="161B22"/>
          </a:solidFill>
          <a:ln w="12700">
            <a:solidFill>
              <a:srgbClr val="238636"/>
            </a:solidFill>
            <a:prstDash val="solid"/>
          </a:ln>
        </p:spPr>
      </p:sp>
      <p:sp>
        <p:nvSpPr>
          <p:cNvPr id="8" name="Text 6"/>
          <p:cNvSpPr/>
          <p:nvPr/>
        </p:nvSpPr>
        <p:spPr>
          <a:xfrm>
            <a:off x="4846320" y="1005840"/>
            <a:ext cx="731520" cy="548640"/>
          </a:xfrm>
          <a:prstGeom prst="rect">
            <a:avLst/>
          </a:prstGeom>
          <a:noFill/>
          <a:ln/>
        </p:spPr>
        <p:txBody>
          <a:bodyPr wrap="square" rtlCol="0" anchor="ctr"/>
          <a:lstStyle/>
          <a:p>
            <a:pPr indent="0" marL="0">
              <a:buNone/>
            </a:pPr>
            <a:r>
              <a:rPr lang="en-US" sz="2800" b="1" dirty="0">
                <a:solidFill>
                  <a:srgbClr val="238636"/>
                </a:solidFill>
                <a:latin typeface="Calibri" pitchFamily="34" charset="0"/>
                <a:ea typeface="Calibri" pitchFamily="34" charset="-122"/>
                <a:cs typeface="Calibri" pitchFamily="34" charset="-120"/>
              </a:rPr>
              <a:t>02</a:t>
            </a:r>
            <a:endParaRPr lang="en-US" sz="2800" dirty="0"/>
          </a:p>
        </p:txBody>
      </p:sp>
      <p:sp>
        <p:nvSpPr>
          <p:cNvPr id="9" name="Text 7"/>
          <p:cNvSpPr/>
          <p:nvPr/>
        </p:nvSpPr>
        <p:spPr>
          <a:xfrm>
            <a:off x="4846320" y="1508760"/>
            <a:ext cx="3749040" cy="411480"/>
          </a:xfrm>
          <a:prstGeom prst="rect">
            <a:avLst/>
          </a:prstGeom>
          <a:noFill/>
          <a:ln/>
        </p:spPr>
        <p:txBody>
          <a:bodyPr wrap="square" rtlCol="0" anchor="ctr"/>
          <a:lstStyle/>
          <a:p>
            <a:pPr indent="0" marL="0">
              <a:buNone/>
            </a:pPr>
            <a:r>
              <a:rPr lang="en-US" sz="1500" b="1" dirty="0">
                <a:solidFill>
                  <a:srgbClr val="F0F6FC"/>
                </a:solidFill>
                <a:latin typeface="Calibri" pitchFamily="34" charset="0"/>
                <a:ea typeface="Calibri" pitchFamily="34" charset="-122"/>
                <a:cs typeface="Calibri" pitchFamily="34" charset="-120"/>
              </a:rPr>
              <a:t>Dijkstra's Shortest Path</a:t>
            </a:r>
            <a:endParaRPr lang="en-US" sz="1500" dirty="0"/>
          </a:p>
        </p:txBody>
      </p:sp>
      <p:sp>
        <p:nvSpPr>
          <p:cNvPr id="10" name="Text 8"/>
          <p:cNvSpPr/>
          <p:nvPr/>
        </p:nvSpPr>
        <p:spPr>
          <a:xfrm>
            <a:off x="4846320" y="1965960"/>
            <a:ext cx="3840480" cy="2743200"/>
          </a:xfrm>
          <a:prstGeom prst="rect">
            <a:avLst/>
          </a:prstGeom>
          <a:noFill/>
          <a:ln/>
        </p:spPr>
        <p:txBody>
          <a:bodyPr wrap="square" rtlCol="0" anchor="t"/>
          <a:lstStyle/>
          <a:p>
            <a:pPr indent="0" marL="0">
              <a:buNone/>
            </a:pPr>
            <a:r>
              <a:rPr lang="en-US" sz="1200" dirty="0">
                <a:solidFill>
                  <a:srgbClr val="8B949E"/>
                </a:solidFill>
                <a:latin typeface="Calibri" pitchFamily="34" charset="0"/>
                <a:ea typeface="Calibri" pitchFamily="34" charset="-122"/>
                <a:cs typeface="Calibri" pitchFamily="34" charset="-120"/>
              </a:rPr>
              <a:t>Finds the minimum-cost or fastest route from any market to any destination city in the network.</a:t>
            </a:r>
            <a:endParaRPr lang="en-US" sz="12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F0F6FC"/>
                </a:solidFill>
                <a:latin typeface="Calibri" pitchFamily="34" charset="0"/>
                <a:ea typeface="Calibri" pitchFamily="34" charset="-122"/>
                <a:cs typeface="Calibri" pitchFamily="34" charset="-120"/>
              </a:rPr>
              <a:t>Edge weights from real data:</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avg_cost: average order value per route</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avg_days: average real shipping days</a:t>
            </a:r>
            <a:endParaRPr lang="en-US" sz="12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8B949E"/>
                </a:solidFill>
                <a:latin typeface="Calibri" pitchFamily="34" charset="0"/>
                <a:ea typeface="Calibri" pitchFamily="34" charset="-122"/>
                <a:cs typeface="Calibri" pitchFamily="34" charset="-120"/>
              </a:rPr>
              <a:t>Runs on every origin–destination pair the user selects in the app.</a:t>
            </a:r>
            <a:endParaRPr lang="en-US" sz="1200" dirty="0"/>
          </a:p>
          <a:p>
            <a:pPr indent="0" marL="0">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238636"/>
                </a:solidFill>
                <a:latin typeface="Calibri" pitchFamily="34" charset="0"/>
                <a:ea typeface="Calibri" pitchFamily="34" charset="-122"/>
                <a:cs typeface="Calibri" pitchFamily="34" charset="-120"/>
              </a:rPr>
              <a:t>Complexity: O((V+E) log V)</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indent="0" marL="0">
              <a:buNone/>
            </a:pPr>
            <a:r>
              <a:rPr lang="en-US" sz="2800" b="1" dirty="0">
                <a:solidFill>
                  <a:srgbClr val="F0F6FC"/>
                </a:solidFill>
                <a:latin typeface="Calibri" pitchFamily="34" charset="0"/>
                <a:ea typeface="Calibri" pitchFamily="34" charset="-122"/>
                <a:cs typeface="Calibri" pitchFamily="34" charset="-120"/>
              </a:rPr>
              <a:t>Application Features</a:t>
            </a:r>
            <a:endParaRPr lang="en-US" sz="2800" dirty="0"/>
          </a:p>
        </p:txBody>
      </p:sp>
      <p:sp>
        <p:nvSpPr>
          <p:cNvPr id="3" name="Text 1"/>
          <p:cNvSpPr/>
          <p:nvPr/>
        </p:nvSpPr>
        <p:spPr>
          <a:xfrm>
            <a:off x="365760" y="749808"/>
            <a:ext cx="8412480" cy="320040"/>
          </a:xfrm>
          <a:prstGeom prst="rect">
            <a:avLst/>
          </a:prstGeom>
          <a:noFill/>
          <a:ln/>
        </p:spPr>
        <p:txBody>
          <a:bodyPr wrap="square" rtlCol="0" anchor="ctr"/>
          <a:lstStyle/>
          <a:p>
            <a:pPr indent="0" marL="0">
              <a:buNone/>
            </a:pPr>
            <a:r>
              <a:rPr lang="en-US" sz="1300" dirty="0">
                <a:solidFill>
                  <a:srgbClr val="8B949E"/>
                </a:solidFill>
                <a:latin typeface="Calibri" pitchFamily="34" charset="0"/>
                <a:ea typeface="Calibri" pitchFamily="34" charset="-122"/>
                <a:cs typeface="Calibri" pitchFamily="34" charset="-120"/>
              </a:rPr>
              <a:t>Built with Streamlit · NetworkX · Plotly</a:t>
            </a:r>
            <a:endParaRPr lang="en-US" sz="1300" dirty="0"/>
          </a:p>
        </p:txBody>
      </p:sp>
      <p:sp>
        <p:nvSpPr>
          <p:cNvPr id="4" name="Shape 2"/>
          <p:cNvSpPr/>
          <p:nvPr/>
        </p:nvSpPr>
        <p:spPr>
          <a:xfrm>
            <a:off x="274320" y="1234440"/>
            <a:ext cx="2743200" cy="3657600"/>
          </a:xfrm>
          <a:prstGeom prst="rect">
            <a:avLst/>
          </a:prstGeom>
          <a:solidFill>
            <a:srgbClr val="161B22"/>
          </a:solidFill>
          <a:ln w="12700">
            <a:solidFill>
              <a:srgbClr val="1F6FEB"/>
            </a:solidFill>
            <a:prstDash val="solid"/>
          </a:ln>
        </p:spPr>
      </p:sp>
      <p:sp>
        <p:nvSpPr>
          <p:cNvPr id="5" name="Shape 3"/>
          <p:cNvSpPr/>
          <p:nvPr/>
        </p:nvSpPr>
        <p:spPr>
          <a:xfrm>
            <a:off x="274320" y="1234440"/>
            <a:ext cx="2743200" cy="411480"/>
          </a:xfrm>
          <a:prstGeom prst="rect">
            <a:avLst/>
          </a:prstGeom>
          <a:solidFill>
            <a:srgbClr val="1F6FEB"/>
          </a:solidFill>
          <a:ln w="12700">
            <a:solidFill>
              <a:srgbClr val="1F6FEB"/>
            </a:solidFill>
            <a:prstDash val="solid"/>
          </a:ln>
        </p:spPr>
      </p:sp>
      <p:sp>
        <p:nvSpPr>
          <p:cNvPr id="6" name="Text 4"/>
          <p:cNvSpPr/>
          <p:nvPr/>
        </p:nvSpPr>
        <p:spPr>
          <a:xfrm>
            <a:off x="274320" y="1234440"/>
            <a:ext cx="2743200" cy="411480"/>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Tab 1</a:t>
            </a:r>
            <a:endParaRPr lang="en-US" sz="1200" dirty="0"/>
          </a:p>
        </p:txBody>
      </p:sp>
      <p:sp>
        <p:nvSpPr>
          <p:cNvPr id="7" name="Text 5"/>
          <p:cNvSpPr/>
          <p:nvPr/>
        </p:nvSpPr>
        <p:spPr>
          <a:xfrm>
            <a:off x="365760" y="1737360"/>
            <a:ext cx="2560320" cy="411480"/>
          </a:xfrm>
          <a:prstGeom prst="rect">
            <a:avLst/>
          </a:prstGeom>
          <a:noFill/>
          <a:ln/>
        </p:spPr>
        <p:txBody>
          <a:bodyPr wrap="square" rtlCol="0" anchor="ctr"/>
          <a:lstStyle/>
          <a:p>
            <a:pPr indent="0" marL="0">
              <a:buNone/>
            </a:pPr>
            <a:r>
              <a:rPr lang="en-US" sz="1400" b="1" dirty="0">
                <a:solidFill>
                  <a:srgbClr val="F0F6FC"/>
                </a:solidFill>
                <a:latin typeface="Calibri" pitchFamily="34" charset="0"/>
                <a:ea typeface="Calibri" pitchFamily="34" charset="-122"/>
                <a:cs typeface="Calibri" pitchFamily="34" charset="-120"/>
              </a:rPr>
              <a:t>Supply Chain Graph</a:t>
            </a:r>
            <a:endParaRPr lang="en-US" sz="1400" dirty="0"/>
          </a:p>
        </p:txBody>
      </p:sp>
      <p:sp>
        <p:nvSpPr>
          <p:cNvPr id="8" name="Text 6"/>
          <p:cNvSpPr/>
          <p:nvPr/>
        </p:nvSpPr>
        <p:spPr>
          <a:xfrm>
            <a:off x="365760" y="2212848"/>
            <a:ext cx="2560320" cy="566928"/>
          </a:xfrm>
          <a:prstGeom prst="rect">
            <a:avLst/>
          </a:prstGeom>
          <a:noFill/>
          <a:ln/>
        </p:spPr>
        <p:txBody>
          <a:bodyPr wrap="square" rtlCol="0" anchor="t"/>
          <a:lstStyle/>
          <a:p>
            <a:pPr indent="0" marL="0">
              <a:buNone/>
            </a:pPr>
            <a:r>
              <a:rPr lang="en-US" sz="1100" b="1" dirty="0">
                <a:solidFill>
                  <a:srgbClr val="1F6FEB"/>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Interactive directed graph with 3,389 nodes</a:t>
            </a:r>
            <a:endParaRPr lang="en-US" sz="1100" dirty="0"/>
          </a:p>
        </p:txBody>
      </p:sp>
      <p:sp>
        <p:nvSpPr>
          <p:cNvPr id="9" name="Text 7"/>
          <p:cNvSpPr/>
          <p:nvPr/>
        </p:nvSpPr>
        <p:spPr>
          <a:xfrm>
            <a:off x="365760" y="2834640"/>
            <a:ext cx="2560320" cy="566928"/>
          </a:xfrm>
          <a:prstGeom prst="rect">
            <a:avLst/>
          </a:prstGeom>
          <a:noFill/>
          <a:ln/>
        </p:spPr>
        <p:txBody>
          <a:bodyPr wrap="square" rtlCol="0" anchor="t"/>
          <a:lstStyle/>
          <a:p>
            <a:pPr indent="0" marL="0">
              <a:buNone/>
            </a:pPr>
            <a:r>
              <a:rPr lang="en-US" sz="1100" b="1" dirty="0">
                <a:solidFill>
                  <a:srgbClr val="1F6FEB"/>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Color-coded: Blue=Markets, Orange=Regions,</a:t>
            </a:r>
            <a:endParaRPr lang="en-US" sz="1100" dirty="0"/>
          </a:p>
          <a:p>
            <a:pPr indent="0" marL="0">
              <a:buNone/>
            </a:pPr>
            <a:r>
              <a:rPr lang="en-US" sz="1100" dirty="0">
                <a:solidFill>
                  <a:srgbClr val="8B949E"/>
                </a:solidFill>
                <a:latin typeface="Calibri" pitchFamily="34" charset="0"/>
                <a:ea typeface="Calibri" pitchFamily="34" charset="-122"/>
                <a:cs typeface="Calibri" pitchFamily="34" charset="-120"/>
              </a:rPr>
              <a:t>Purple=Countries, Green=Cities</a:t>
            </a:r>
            <a:endParaRPr lang="en-US" sz="1100" dirty="0"/>
          </a:p>
        </p:txBody>
      </p:sp>
      <p:sp>
        <p:nvSpPr>
          <p:cNvPr id="10" name="Text 8"/>
          <p:cNvSpPr/>
          <p:nvPr/>
        </p:nvSpPr>
        <p:spPr>
          <a:xfrm>
            <a:off x="365760" y="3456432"/>
            <a:ext cx="2560320" cy="566928"/>
          </a:xfrm>
          <a:prstGeom prst="rect">
            <a:avLst/>
          </a:prstGeom>
          <a:noFill/>
          <a:ln/>
        </p:spPr>
        <p:txBody>
          <a:bodyPr wrap="square" rtlCol="0" anchor="t"/>
          <a:lstStyle/>
          <a:p>
            <a:pPr indent="0" marL="0">
              <a:buNone/>
            </a:pPr>
            <a:r>
              <a:rPr lang="en-US" sz="1100" b="1" dirty="0">
                <a:solidFill>
                  <a:srgbClr val="1F6FEB"/>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Filter by market to focus on a region</a:t>
            </a:r>
            <a:endParaRPr lang="en-US" sz="1100" dirty="0"/>
          </a:p>
        </p:txBody>
      </p:sp>
      <p:sp>
        <p:nvSpPr>
          <p:cNvPr id="11" name="Text 9"/>
          <p:cNvSpPr/>
          <p:nvPr/>
        </p:nvSpPr>
        <p:spPr>
          <a:xfrm>
            <a:off x="365760" y="4078224"/>
            <a:ext cx="2560320" cy="566928"/>
          </a:xfrm>
          <a:prstGeom prst="rect">
            <a:avLst/>
          </a:prstGeom>
          <a:noFill/>
          <a:ln/>
        </p:spPr>
        <p:txBody>
          <a:bodyPr wrap="square" rtlCol="0" anchor="t"/>
          <a:lstStyle/>
          <a:p>
            <a:pPr indent="0" marL="0">
              <a:buNone/>
            </a:pPr>
            <a:r>
              <a:rPr lang="en-US" sz="1100" b="1" dirty="0">
                <a:solidFill>
                  <a:srgbClr val="1F6FEB"/>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Topological order list displayed below</a:t>
            </a:r>
            <a:endParaRPr lang="en-US" sz="1100" dirty="0"/>
          </a:p>
        </p:txBody>
      </p:sp>
      <p:sp>
        <p:nvSpPr>
          <p:cNvPr id="12" name="Shape 10"/>
          <p:cNvSpPr/>
          <p:nvPr/>
        </p:nvSpPr>
        <p:spPr>
          <a:xfrm>
            <a:off x="3246120" y="1234440"/>
            <a:ext cx="2743200" cy="3657600"/>
          </a:xfrm>
          <a:prstGeom prst="rect">
            <a:avLst/>
          </a:prstGeom>
          <a:solidFill>
            <a:srgbClr val="161B22"/>
          </a:solidFill>
          <a:ln w="12700">
            <a:solidFill>
              <a:srgbClr val="238636"/>
            </a:solidFill>
            <a:prstDash val="solid"/>
          </a:ln>
        </p:spPr>
      </p:sp>
      <p:sp>
        <p:nvSpPr>
          <p:cNvPr id="13" name="Shape 11"/>
          <p:cNvSpPr/>
          <p:nvPr/>
        </p:nvSpPr>
        <p:spPr>
          <a:xfrm>
            <a:off x="3246120" y="1234440"/>
            <a:ext cx="2743200" cy="411480"/>
          </a:xfrm>
          <a:prstGeom prst="rect">
            <a:avLst/>
          </a:prstGeom>
          <a:solidFill>
            <a:srgbClr val="238636"/>
          </a:solidFill>
          <a:ln w="12700">
            <a:solidFill>
              <a:srgbClr val="238636"/>
            </a:solidFill>
            <a:prstDash val="solid"/>
          </a:ln>
        </p:spPr>
      </p:sp>
      <p:sp>
        <p:nvSpPr>
          <p:cNvPr id="14" name="Text 12"/>
          <p:cNvSpPr/>
          <p:nvPr/>
        </p:nvSpPr>
        <p:spPr>
          <a:xfrm>
            <a:off x="3246120" y="1234440"/>
            <a:ext cx="2743200" cy="411480"/>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Tab 2</a:t>
            </a:r>
            <a:endParaRPr lang="en-US" sz="1200" dirty="0"/>
          </a:p>
        </p:txBody>
      </p:sp>
      <p:sp>
        <p:nvSpPr>
          <p:cNvPr id="15" name="Text 13"/>
          <p:cNvSpPr/>
          <p:nvPr/>
        </p:nvSpPr>
        <p:spPr>
          <a:xfrm>
            <a:off x="3337560" y="1737360"/>
            <a:ext cx="2560320" cy="411480"/>
          </a:xfrm>
          <a:prstGeom prst="rect">
            <a:avLst/>
          </a:prstGeom>
          <a:noFill/>
          <a:ln/>
        </p:spPr>
        <p:txBody>
          <a:bodyPr wrap="square" rtlCol="0" anchor="ctr"/>
          <a:lstStyle/>
          <a:p>
            <a:pPr indent="0" marL="0">
              <a:buNone/>
            </a:pPr>
            <a:r>
              <a:rPr lang="en-US" sz="1400" b="1" dirty="0">
                <a:solidFill>
                  <a:srgbClr val="F0F6FC"/>
                </a:solidFill>
                <a:latin typeface="Calibri" pitchFamily="34" charset="0"/>
                <a:ea typeface="Calibri" pitchFamily="34" charset="-122"/>
                <a:cs typeface="Calibri" pitchFamily="34" charset="-120"/>
              </a:rPr>
              <a:t>Route Optimizer</a:t>
            </a:r>
            <a:endParaRPr lang="en-US" sz="1400" dirty="0"/>
          </a:p>
        </p:txBody>
      </p:sp>
      <p:sp>
        <p:nvSpPr>
          <p:cNvPr id="16" name="Text 14"/>
          <p:cNvSpPr/>
          <p:nvPr/>
        </p:nvSpPr>
        <p:spPr>
          <a:xfrm>
            <a:off x="3337560" y="2212848"/>
            <a:ext cx="2560320" cy="566928"/>
          </a:xfrm>
          <a:prstGeom prst="rect">
            <a:avLst/>
          </a:prstGeom>
          <a:noFill/>
          <a:ln/>
        </p:spPr>
        <p:txBody>
          <a:bodyPr wrap="square" rtlCol="0" anchor="t"/>
          <a:lstStyle/>
          <a:p>
            <a:pPr indent="0" marL="0">
              <a:buNone/>
            </a:pPr>
            <a:r>
              <a:rPr lang="en-US" sz="1100" b="1" dirty="0">
                <a:solidFill>
                  <a:srgbClr val="238636"/>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Select origin Market &amp; destination City</a:t>
            </a:r>
            <a:endParaRPr lang="en-US" sz="1100" dirty="0"/>
          </a:p>
        </p:txBody>
      </p:sp>
      <p:sp>
        <p:nvSpPr>
          <p:cNvPr id="17" name="Text 15"/>
          <p:cNvSpPr/>
          <p:nvPr/>
        </p:nvSpPr>
        <p:spPr>
          <a:xfrm>
            <a:off x="3337560" y="2834640"/>
            <a:ext cx="2560320" cy="566928"/>
          </a:xfrm>
          <a:prstGeom prst="rect">
            <a:avLst/>
          </a:prstGeom>
          <a:noFill/>
          <a:ln/>
        </p:spPr>
        <p:txBody>
          <a:bodyPr wrap="square" rtlCol="0" anchor="t"/>
          <a:lstStyle/>
          <a:p>
            <a:pPr indent="0" marL="0">
              <a:buNone/>
            </a:pPr>
            <a:r>
              <a:rPr lang="en-US" sz="1100" b="1" dirty="0">
                <a:solidFill>
                  <a:srgbClr val="238636"/>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City list auto-filters by selected market</a:t>
            </a:r>
            <a:endParaRPr lang="en-US" sz="1100" dirty="0"/>
          </a:p>
        </p:txBody>
      </p:sp>
      <p:sp>
        <p:nvSpPr>
          <p:cNvPr id="18" name="Text 16"/>
          <p:cNvSpPr/>
          <p:nvPr/>
        </p:nvSpPr>
        <p:spPr>
          <a:xfrm>
            <a:off x="3337560" y="3456432"/>
            <a:ext cx="2560320" cy="566928"/>
          </a:xfrm>
          <a:prstGeom prst="rect">
            <a:avLst/>
          </a:prstGeom>
          <a:noFill/>
          <a:ln/>
        </p:spPr>
        <p:txBody>
          <a:bodyPr wrap="square" rtlCol="0" anchor="t"/>
          <a:lstStyle/>
          <a:p>
            <a:pPr indent="0" marL="0">
              <a:buNone/>
            </a:pPr>
            <a:r>
              <a:rPr lang="en-US" sz="1100" b="1" dirty="0">
                <a:solidFill>
                  <a:srgbClr val="238636"/>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Optimize for Cost or Speed</a:t>
            </a:r>
            <a:endParaRPr lang="en-US" sz="1100" dirty="0"/>
          </a:p>
        </p:txBody>
      </p:sp>
      <p:sp>
        <p:nvSpPr>
          <p:cNvPr id="19" name="Text 17"/>
          <p:cNvSpPr/>
          <p:nvPr/>
        </p:nvSpPr>
        <p:spPr>
          <a:xfrm>
            <a:off x="3337560" y="4078224"/>
            <a:ext cx="2560320" cy="566928"/>
          </a:xfrm>
          <a:prstGeom prst="rect">
            <a:avLst/>
          </a:prstGeom>
          <a:noFill/>
          <a:ln/>
        </p:spPr>
        <p:txBody>
          <a:bodyPr wrap="square" rtlCol="0" anchor="t"/>
          <a:lstStyle/>
          <a:p>
            <a:pPr indent="0" marL="0">
              <a:buNone/>
            </a:pPr>
            <a:r>
              <a:rPr lang="en-US" sz="1100" b="1" dirty="0">
                <a:solidFill>
                  <a:srgbClr val="238636"/>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Path highlighted in red on the graph</a:t>
            </a:r>
            <a:endParaRPr lang="en-US" sz="1100" dirty="0"/>
          </a:p>
        </p:txBody>
      </p:sp>
      <p:sp>
        <p:nvSpPr>
          <p:cNvPr id="20" name="Shape 18"/>
          <p:cNvSpPr/>
          <p:nvPr/>
        </p:nvSpPr>
        <p:spPr>
          <a:xfrm>
            <a:off x="6217920" y="1234440"/>
            <a:ext cx="2743200" cy="3657600"/>
          </a:xfrm>
          <a:prstGeom prst="rect">
            <a:avLst/>
          </a:prstGeom>
          <a:solidFill>
            <a:srgbClr val="161B22"/>
          </a:solidFill>
          <a:ln w="12700">
            <a:solidFill>
              <a:srgbClr val="E88C0E"/>
            </a:solidFill>
            <a:prstDash val="solid"/>
          </a:ln>
        </p:spPr>
      </p:sp>
      <p:sp>
        <p:nvSpPr>
          <p:cNvPr id="21" name="Shape 19"/>
          <p:cNvSpPr/>
          <p:nvPr/>
        </p:nvSpPr>
        <p:spPr>
          <a:xfrm>
            <a:off x="6217920" y="1234440"/>
            <a:ext cx="2743200" cy="411480"/>
          </a:xfrm>
          <a:prstGeom prst="rect">
            <a:avLst/>
          </a:prstGeom>
          <a:solidFill>
            <a:srgbClr val="E88C0E"/>
          </a:solidFill>
          <a:ln w="12700">
            <a:solidFill>
              <a:srgbClr val="E88C0E"/>
            </a:solidFill>
            <a:prstDash val="solid"/>
          </a:ln>
        </p:spPr>
      </p:sp>
      <p:sp>
        <p:nvSpPr>
          <p:cNvPr id="22" name="Text 20"/>
          <p:cNvSpPr/>
          <p:nvPr/>
        </p:nvSpPr>
        <p:spPr>
          <a:xfrm>
            <a:off x="6217920" y="1234440"/>
            <a:ext cx="2743200" cy="411480"/>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Tab 3</a:t>
            </a:r>
            <a:endParaRPr lang="en-US" sz="1200" dirty="0"/>
          </a:p>
        </p:txBody>
      </p:sp>
      <p:sp>
        <p:nvSpPr>
          <p:cNvPr id="23" name="Text 21"/>
          <p:cNvSpPr/>
          <p:nvPr/>
        </p:nvSpPr>
        <p:spPr>
          <a:xfrm>
            <a:off x="6309360" y="1737360"/>
            <a:ext cx="2560320" cy="411480"/>
          </a:xfrm>
          <a:prstGeom prst="rect">
            <a:avLst/>
          </a:prstGeom>
          <a:noFill/>
          <a:ln/>
        </p:spPr>
        <p:txBody>
          <a:bodyPr wrap="square" rtlCol="0" anchor="ctr"/>
          <a:lstStyle/>
          <a:p>
            <a:pPr indent="0" marL="0">
              <a:buNone/>
            </a:pPr>
            <a:r>
              <a:rPr lang="en-US" sz="1400" b="1" dirty="0">
                <a:solidFill>
                  <a:srgbClr val="F0F6FC"/>
                </a:solidFill>
                <a:latin typeface="Calibri" pitchFamily="34" charset="0"/>
                <a:ea typeface="Calibri" pitchFamily="34" charset="-122"/>
                <a:cs typeface="Calibri" pitchFamily="34" charset="-120"/>
              </a:rPr>
              <a:t>Dataset Explorer</a:t>
            </a:r>
            <a:endParaRPr lang="en-US" sz="1400" dirty="0"/>
          </a:p>
        </p:txBody>
      </p:sp>
      <p:sp>
        <p:nvSpPr>
          <p:cNvPr id="24" name="Text 22"/>
          <p:cNvSpPr/>
          <p:nvPr/>
        </p:nvSpPr>
        <p:spPr>
          <a:xfrm>
            <a:off x="6309360" y="2212848"/>
            <a:ext cx="2560320" cy="566928"/>
          </a:xfrm>
          <a:prstGeom prst="rect">
            <a:avLst/>
          </a:prstGeom>
          <a:noFill/>
          <a:ln/>
        </p:spPr>
        <p:txBody>
          <a:bodyPr wrap="square" rtlCol="0" anchor="t"/>
          <a:lstStyle/>
          <a:p>
            <a:pPr indent="0" marL="0">
              <a:buNone/>
            </a:pPr>
            <a:r>
              <a:rPr lang="en-US" sz="1100" b="1" dirty="0">
                <a:solidFill>
                  <a:srgbClr val="E88C0E"/>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Avg shipping cost by market</a:t>
            </a:r>
            <a:endParaRPr lang="en-US" sz="1100" dirty="0"/>
          </a:p>
        </p:txBody>
      </p:sp>
      <p:sp>
        <p:nvSpPr>
          <p:cNvPr id="25" name="Text 23"/>
          <p:cNvSpPr/>
          <p:nvPr/>
        </p:nvSpPr>
        <p:spPr>
          <a:xfrm>
            <a:off x="6309360" y="2834640"/>
            <a:ext cx="2560320" cy="566928"/>
          </a:xfrm>
          <a:prstGeom prst="rect">
            <a:avLst/>
          </a:prstGeom>
          <a:noFill/>
          <a:ln/>
        </p:spPr>
        <p:txBody>
          <a:bodyPr wrap="square" rtlCol="0" anchor="t"/>
          <a:lstStyle/>
          <a:p>
            <a:pPr indent="0" marL="0">
              <a:buNone/>
            </a:pPr>
            <a:r>
              <a:rPr lang="en-US" sz="1100" b="1" dirty="0">
                <a:solidFill>
                  <a:srgbClr val="E88C0E"/>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Delivery status distribution (pie chart)</a:t>
            </a:r>
            <a:endParaRPr lang="en-US" sz="1100" dirty="0"/>
          </a:p>
        </p:txBody>
      </p:sp>
      <p:sp>
        <p:nvSpPr>
          <p:cNvPr id="26" name="Text 24"/>
          <p:cNvSpPr/>
          <p:nvPr/>
        </p:nvSpPr>
        <p:spPr>
          <a:xfrm>
            <a:off x="6309360" y="3456432"/>
            <a:ext cx="2560320" cy="566928"/>
          </a:xfrm>
          <a:prstGeom prst="rect">
            <a:avLst/>
          </a:prstGeom>
          <a:noFill/>
          <a:ln/>
        </p:spPr>
        <p:txBody>
          <a:bodyPr wrap="square" rtlCol="0" anchor="t"/>
          <a:lstStyle/>
          <a:p>
            <a:pPr indent="0" marL="0">
              <a:buNone/>
            </a:pPr>
            <a:r>
              <a:rPr lang="en-US" sz="1100" b="1" dirty="0">
                <a:solidFill>
                  <a:srgbClr val="E88C0E"/>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Avg delivery days by shipping mode</a:t>
            </a:r>
            <a:endParaRPr lang="en-US" sz="1100" dirty="0"/>
          </a:p>
        </p:txBody>
      </p:sp>
      <p:sp>
        <p:nvSpPr>
          <p:cNvPr id="27" name="Text 25"/>
          <p:cNvSpPr/>
          <p:nvPr/>
        </p:nvSpPr>
        <p:spPr>
          <a:xfrm>
            <a:off x="6309360" y="4078224"/>
            <a:ext cx="2560320" cy="566928"/>
          </a:xfrm>
          <a:prstGeom prst="rect">
            <a:avLst/>
          </a:prstGeom>
          <a:noFill/>
          <a:ln/>
        </p:spPr>
        <p:txBody>
          <a:bodyPr wrap="square" rtlCol="0" anchor="t"/>
          <a:lstStyle/>
          <a:p>
            <a:pPr indent="0" marL="0">
              <a:buNone/>
            </a:pPr>
            <a:r>
              <a:rPr lang="en-US" sz="1100" b="1" dirty="0">
                <a:solidFill>
                  <a:srgbClr val="E88C0E"/>
                </a:solidFill>
                <a:latin typeface="Calibri" pitchFamily="34" charset="0"/>
                <a:ea typeface="Calibri" pitchFamily="34" charset="-122"/>
                <a:cs typeface="Calibri" pitchFamily="34" charset="-120"/>
              </a:rPr>
              <a:t>&gt; </a:t>
            </a:r>
            <a:pPr indent="0" marL="0">
              <a:buNone/>
            </a:pPr>
            <a:r>
              <a:rPr lang="en-US" sz="1100" dirty="0">
                <a:solidFill>
                  <a:srgbClr val="8B949E"/>
                </a:solidFill>
                <a:latin typeface="Calibri" pitchFamily="34" charset="0"/>
                <a:ea typeface="Calibri" pitchFamily="34" charset="-122"/>
                <a:cs typeface="Calibri" pitchFamily="34" charset="-120"/>
              </a:rPr>
              <a:t>Late delivery risk rate by market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indent="0" marL="0">
              <a:buNone/>
            </a:pPr>
            <a:r>
              <a:rPr lang="en-US" sz="2800" b="1" dirty="0">
                <a:solidFill>
                  <a:srgbClr val="F0F6FC"/>
                </a:solidFill>
                <a:latin typeface="Calibri" pitchFamily="34" charset="0"/>
                <a:ea typeface="Calibri" pitchFamily="34" charset="-122"/>
                <a:cs typeface="Calibri" pitchFamily="34" charset="-120"/>
              </a:rPr>
              <a:t>Results &amp; Key Findings</a:t>
            </a:r>
            <a:endParaRPr lang="en-US" sz="2800" dirty="0"/>
          </a:p>
        </p:txBody>
      </p:sp>
      <p:sp>
        <p:nvSpPr>
          <p:cNvPr id="3" name="Shape 1"/>
          <p:cNvSpPr/>
          <p:nvPr/>
        </p:nvSpPr>
        <p:spPr>
          <a:xfrm>
            <a:off x="274320" y="914400"/>
            <a:ext cx="5303520" cy="2560320"/>
          </a:xfrm>
          <a:prstGeom prst="rect">
            <a:avLst/>
          </a:prstGeom>
          <a:solidFill>
            <a:srgbClr val="161B22"/>
          </a:solidFill>
          <a:ln w="12700">
            <a:solidFill>
              <a:srgbClr val="238636"/>
            </a:solidFill>
            <a:prstDash val="solid"/>
          </a:ln>
        </p:spPr>
      </p:sp>
      <p:sp>
        <p:nvSpPr>
          <p:cNvPr id="4" name="Text 2"/>
          <p:cNvSpPr/>
          <p:nvPr/>
        </p:nvSpPr>
        <p:spPr>
          <a:xfrm>
            <a:off x="457200" y="1005840"/>
            <a:ext cx="4937760" cy="320040"/>
          </a:xfrm>
          <a:prstGeom prst="rect">
            <a:avLst/>
          </a:prstGeom>
          <a:noFill/>
          <a:ln/>
        </p:spPr>
        <p:txBody>
          <a:bodyPr wrap="square" rtlCol="0" anchor="ctr"/>
          <a:lstStyle/>
          <a:p>
            <a:pPr indent="0" marL="0">
              <a:buNone/>
            </a:pPr>
            <a:r>
              <a:rPr lang="en-US" sz="1100" b="1" spc="200" kern="0" dirty="0">
                <a:solidFill>
                  <a:srgbClr val="238636"/>
                </a:solidFill>
                <a:latin typeface="Calibri" pitchFamily="34" charset="0"/>
                <a:ea typeface="Calibri" pitchFamily="34" charset="-122"/>
                <a:cs typeface="Calibri" pitchFamily="34" charset="-120"/>
              </a:rPr>
              <a:t>SAMPLE DIJKSTRA OUTPUT</a:t>
            </a:r>
            <a:endParaRPr lang="en-US" sz="1100" dirty="0"/>
          </a:p>
        </p:txBody>
      </p:sp>
      <p:sp>
        <p:nvSpPr>
          <p:cNvPr id="5" name="Text 3"/>
          <p:cNvSpPr/>
          <p:nvPr/>
        </p:nvSpPr>
        <p:spPr>
          <a:xfrm>
            <a:off x="457200" y="1371600"/>
            <a:ext cx="4937760" cy="320040"/>
          </a:xfrm>
          <a:prstGeom prst="rect">
            <a:avLst/>
          </a:prstGeom>
          <a:noFill/>
          <a:ln/>
        </p:spPr>
        <p:txBody>
          <a:bodyPr wrap="square" rtlCol="0" anchor="ctr"/>
          <a:lstStyle/>
          <a:p>
            <a:pPr indent="0" marL="0">
              <a:buNone/>
            </a:pPr>
            <a:r>
              <a:rPr lang="en-US" sz="1200" b="1" dirty="0">
                <a:solidFill>
                  <a:srgbClr val="F0F6FC"/>
                </a:solidFill>
                <a:latin typeface="Calibri" pitchFamily="34" charset="0"/>
                <a:ea typeface="Calibri" pitchFamily="34" charset="-122"/>
                <a:cs typeface="Calibri" pitchFamily="34" charset="-120"/>
              </a:rPr>
              <a:t>Europe → Paris (City)  |  Optimize: Cost</a:t>
            </a:r>
            <a:endParaRPr lang="en-US" sz="1200" dirty="0"/>
          </a:p>
        </p:txBody>
      </p:sp>
      <p:sp>
        <p:nvSpPr>
          <p:cNvPr id="6" name="Text 4"/>
          <p:cNvSpPr/>
          <p:nvPr/>
        </p:nvSpPr>
        <p:spPr>
          <a:xfrm>
            <a:off x="457200" y="1783080"/>
            <a:ext cx="4937760" cy="347472"/>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Europe  →  Western Europe (Region)  |  $197.55</a:t>
            </a:r>
            <a:endParaRPr lang="en-US" sz="1100" dirty="0"/>
          </a:p>
        </p:txBody>
      </p:sp>
      <p:sp>
        <p:nvSpPr>
          <p:cNvPr id="7" name="Text 5"/>
          <p:cNvSpPr/>
          <p:nvPr/>
        </p:nvSpPr>
        <p:spPr>
          <a:xfrm>
            <a:off x="457200" y="2167128"/>
            <a:ext cx="4937760" cy="347472"/>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Western Europe  →  France (Country)  |  $198.85</a:t>
            </a:r>
            <a:endParaRPr lang="en-US" sz="1100" dirty="0"/>
          </a:p>
        </p:txBody>
      </p:sp>
      <p:sp>
        <p:nvSpPr>
          <p:cNvPr id="8" name="Text 6"/>
          <p:cNvSpPr/>
          <p:nvPr/>
        </p:nvSpPr>
        <p:spPr>
          <a:xfrm>
            <a:off x="457200" y="2551176"/>
            <a:ext cx="4937760" cy="347472"/>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France  →  Paris (City)  |  $173.80</a:t>
            </a:r>
            <a:endParaRPr lang="en-US" sz="1100" dirty="0"/>
          </a:p>
        </p:txBody>
      </p:sp>
      <p:sp>
        <p:nvSpPr>
          <p:cNvPr id="9" name="Text 7"/>
          <p:cNvSpPr/>
          <p:nvPr/>
        </p:nvSpPr>
        <p:spPr>
          <a:xfrm>
            <a:off x="457200" y="2935224"/>
            <a:ext cx="4937760" cy="347472"/>
          </a:xfrm>
          <a:prstGeom prst="rect">
            <a:avLst/>
          </a:prstGeom>
          <a:noFill/>
          <a:ln/>
        </p:spPr>
        <p:txBody>
          <a:bodyPr wrap="square" rtlCol="0" anchor="ctr"/>
          <a:lstStyle/>
          <a:p>
            <a:pPr indent="0" marL="0">
              <a:buNone/>
            </a:pPr>
            <a:r>
              <a:rPr lang="en-US" sz="1100" b="1" dirty="0">
                <a:solidFill>
                  <a:srgbClr val="238636"/>
                </a:solidFill>
                <a:latin typeface="Calibri" pitchFamily="34" charset="0"/>
                <a:ea typeface="Calibri" pitchFamily="34" charset="-122"/>
                <a:cs typeface="Calibri" pitchFamily="34" charset="-120"/>
              </a:rPr>
              <a:t>TOTAL COST:  $570.20</a:t>
            </a:r>
            <a:endParaRPr lang="en-US" sz="1100" dirty="0"/>
          </a:p>
        </p:txBody>
      </p:sp>
      <p:sp>
        <p:nvSpPr>
          <p:cNvPr id="10" name="Shape 8"/>
          <p:cNvSpPr/>
          <p:nvPr/>
        </p:nvSpPr>
        <p:spPr>
          <a:xfrm>
            <a:off x="5852160" y="914400"/>
            <a:ext cx="1508760" cy="1188720"/>
          </a:xfrm>
          <a:prstGeom prst="rect">
            <a:avLst/>
          </a:prstGeom>
          <a:solidFill>
            <a:srgbClr val="161B22"/>
          </a:solidFill>
          <a:ln w="12700">
            <a:solidFill>
              <a:srgbClr val="E88C0E"/>
            </a:solidFill>
            <a:prstDash val="solid"/>
          </a:ln>
        </p:spPr>
      </p:sp>
      <p:sp>
        <p:nvSpPr>
          <p:cNvPr id="11" name="Text 9"/>
          <p:cNvSpPr/>
          <p:nvPr/>
        </p:nvSpPr>
        <p:spPr>
          <a:xfrm>
            <a:off x="5852160" y="1005840"/>
            <a:ext cx="1508760" cy="502920"/>
          </a:xfrm>
          <a:prstGeom prst="rect">
            <a:avLst/>
          </a:prstGeom>
          <a:noFill/>
          <a:ln/>
        </p:spPr>
        <p:txBody>
          <a:bodyPr wrap="square" rtlCol="0" anchor="ctr"/>
          <a:lstStyle/>
          <a:p>
            <a:pPr algn="ctr" indent="0" marL="0">
              <a:buNone/>
            </a:pPr>
            <a:r>
              <a:rPr lang="en-US" sz="1600" b="1" dirty="0">
                <a:solidFill>
                  <a:srgbClr val="E88C0E"/>
                </a:solidFill>
                <a:latin typeface="Calibri" pitchFamily="34" charset="0"/>
                <a:ea typeface="Calibri" pitchFamily="34" charset="-122"/>
                <a:cs typeface="Calibri" pitchFamily="34" charset="-120"/>
              </a:rPr>
              <a:t>57.3%</a:t>
            </a:r>
            <a:endParaRPr lang="en-US" sz="1600" dirty="0"/>
          </a:p>
        </p:txBody>
      </p:sp>
      <p:sp>
        <p:nvSpPr>
          <p:cNvPr id="12" name="Text 10"/>
          <p:cNvSpPr/>
          <p:nvPr/>
        </p:nvSpPr>
        <p:spPr>
          <a:xfrm>
            <a:off x="5852160" y="1508760"/>
            <a:ext cx="1508760" cy="502920"/>
          </a:xfrm>
          <a:prstGeom prst="rect">
            <a:avLst/>
          </a:prstGeom>
          <a:noFill/>
          <a:ln/>
        </p:spPr>
        <p:txBody>
          <a:bodyPr wrap="square" rtlCol="0" anchor="ctr"/>
          <a:lstStyle/>
          <a:p>
            <a:pPr algn="ctr" indent="0" marL="0">
              <a:buNone/>
            </a:pPr>
            <a:r>
              <a:rPr lang="en-US" sz="900" dirty="0">
                <a:solidFill>
                  <a:srgbClr val="8B949E"/>
                </a:solidFill>
                <a:latin typeface="Calibri" pitchFamily="34" charset="0"/>
                <a:ea typeface="Calibri" pitchFamily="34" charset="-122"/>
                <a:cs typeface="Calibri" pitchFamily="34" charset="-120"/>
              </a:rPr>
              <a:t>of orders arrive late</a:t>
            </a:r>
            <a:endParaRPr lang="en-US" sz="900" dirty="0"/>
          </a:p>
        </p:txBody>
      </p:sp>
      <p:sp>
        <p:nvSpPr>
          <p:cNvPr id="13" name="Shape 11"/>
          <p:cNvSpPr/>
          <p:nvPr/>
        </p:nvSpPr>
        <p:spPr>
          <a:xfrm>
            <a:off x="7498080" y="914400"/>
            <a:ext cx="1508760" cy="1188720"/>
          </a:xfrm>
          <a:prstGeom prst="rect">
            <a:avLst/>
          </a:prstGeom>
          <a:solidFill>
            <a:srgbClr val="161B22"/>
          </a:solidFill>
          <a:ln w="12700">
            <a:solidFill>
              <a:srgbClr val="1F6FEB"/>
            </a:solidFill>
            <a:prstDash val="solid"/>
          </a:ln>
        </p:spPr>
      </p:sp>
      <p:sp>
        <p:nvSpPr>
          <p:cNvPr id="14" name="Text 12"/>
          <p:cNvSpPr/>
          <p:nvPr/>
        </p:nvSpPr>
        <p:spPr>
          <a:xfrm>
            <a:off x="7498080" y="1005840"/>
            <a:ext cx="1508760" cy="502920"/>
          </a:xfrm>
          <a:prstGeom prst="rect">
            <a:avLst/>
          </a:prstGeom>
          <a:noFill/>
          <a:ln/>
        </p:spPr>
        <p:txBody>
          <a:bodyPr wrap="square" rtlCol="0" anchor="ctr"/>
          <a:lstStyle/>
          <a:p>
            <a:pPr algn="ctr" indent="0" marL="0">
              <a:buNone/>
            </a:pPr>
            <a:r>
              <a:rPr lang="en-US" sz="1600" b="1" dirty="0">
                <a:solidFill>
                  <a:srgbClr val="1F6FEB"/>
                </a:solidFill>
                <a:latin typeface="Calibri" pitchFamily="34" charset="0"/>
                <a:ea typeface="Calibri" pitchFamily="34" charset="-122"/>
                <a:cs typeface="Calibri" pitchFamily="34" charset="-120"/>
              </a:rPr>
              <a:t>~0.5 days</a:t>
            </a:r>
            <a:endParaRPr lang="en-US" sz="1600" dirty="0"/>
          </a:p>
        </p:txBody>
      </p:sp>
      <p:sp>
        <p:nvSpPr>
          <p:cNvPr id="15" name="Text 13"/>
          <p:cNvSpPr/>
          <p:nvPr/>
        </p:nvSpPr>
        <p:spPr>
          <a:xfrm>
            <a:off x="7498080" y="1508760"/>
            <a:ext cx="1508760" cy="502920"/>
          </a:xfrm>
          <a:prstGeom prst="rect">
            <a:avLst/>
          </a:prstGeom>
          <a:noFill/>
          <a:ln/>
        </p:spPr>
        <p:txBody>
          <a:bodyPr wrap="square" rtlCol="0" anchor="ctr"/>
          <a:lstStyle/>
          <a:p>
            <a:pPr algn="ctr" indent="0" marL="0">
              <a:buNone/>
            </a:pPr>
            <a:r>
              <a:rPr lang="en-US" sz="900" dirty="0">
                <a:solidFill>
                  <a:srgbClr val="8B949E"/>
                </a:solidFill>
                <a:latin typeface="Calibri" pitchFamily="34" charset="0"/>
                <a:ea typeface="Calibri" pitchFamily="34" charset="-122"/>
                <a:cs typeface="Calibri" pitchFamily="34" charset="-120"/>
              </a:rPr>
              <a:t>Same Day avg delivery</a:t>
            </a:r>
            <a:endParaRPr lang="en-US" sz="900" dirty="0"/>
          </a:p>
        </p:txBody>
      </p:sp>
      <p:sp>
        <p:nvSpPr>
          <p:cNvPr id="16" name="Shape 14"/>
          <p:cNvSpPr/>
          <p:nvPr/>
        </p:nvSpPr>
        <p:spPr>
          <a:xfrm>
            <a:off x="5852160" y="2286000"/>
            <a:ext cx="1508760" cy="1188720"/>
          </a:xfrm>
          <a:prstGeom prst="rect">
            <a:avLst/>
          </a:prstGeom>
          <a:solidFill>
            <a:srgbClr val="161B22"/>
          </a:solidFill>
          <a:ln w="12700">
            <a:solidFill>
              <a:srgbClr val="8957E5"/>
            </a:solidFill>
            <a:prstDash val="solid"/>
          </a:ln>
        </p:spPr>
      </p:sp>
      <p:sp>
        <p:nvSpPr>
          <p:cNvPr id="17" name="Text 15"/>
          <p:cNvSpPr/>
          <p:nvPr/>
        </p:nvSpPr>
        <p:spPr>
          <a:xfrm>
            <a:off x="5852160" y="2377440"/>
            <a:ext cx="1508760" cy="502920"/>
          </a:xfrm>
          <a:prstGeom prst="rect">
            <a:avLst/>
          </a:prstGeom>
          <a:noFill/>
          <a:ln/>
        </p:spPr>
        <p:txBody>
          <a:bodyPr wrap="square" rtlCol="0" anchor="ctr"/>
          <a:lstStyle/>
          <a:p>
            <a:pPr algn="ctr" indent="0" marL="0">
              <a:buNone/>
            </a:pPr>
            <a:r>
              <a:rPr lang="en-US" sz="1600" b="1" dirty="0">
                <a:solidFill>
                  <a:srgbClr val="8957E5"/>
                </a:solidFill>
                <a:latin typeface="Calibri" pitchFamily="34" charset="0"/>
                <a:ea typeface="Calibri" pitchFamily="34" charset="-122"/>
                <a:cs typeface="Calibri" pitchFamily="34" charset="-120"/>
              </a:rPr>
              <a:t>Europe</a:t>
            </a:r>
            <a:endParaRPr lang="en-US" sz="1600" dirty="0"/>
          </a:p>
        </p:txBody>
      </p:sp>
      <p:sp>
        <p:nvSpPr>
          <p:cNvPr id="18" name="Text 16"/>
          <p:cNvSpPr/>
          <p:nvPr/>
        </p:nvSpPr>
        <p:spPr>
          <a:xfrm>
            <a:off x="5852160" y="2880360"/>
            <a:ext cx="1508760" cy="502920"/>
          </a:xfrm>
          <a:prstGeom prst="rect">
            <a:avLst/>
          </a:prstGeom>
          <a:noFill/>
          <a:ln/>
        </p:spPr>
        <p:txBody>
          <a:bodyPr wrap="square" rtlCol="0" anchor="ctr"/>
          <a:lstStyle/>
          <a:p>
            <a:pPr algn="ctr" indent="0" marL="0">
              <a:buNone/>
            </a:pPr>
            <a:r>
              <a:rPr lang="en-US" sz="900" dirty="0">
                <a:solidFill>
                  <a:srgbClr val="8B949E"/>
                </a:solidFill>
                <a:latin typeface="Calibri" pitchFamily="34" charset="0"/>
                <a:ea typeface="Calibri" pitchFamily="34" charset="-122"/>
                <a:cs typeface="Calibri" pitchFamily="34" charset="-120"/>
              </a:rPr>
              <a:t>highest avg shipping cost</a:t>
            </a:r>
            <a:endParaRPr lang="en-US" sz="900" dirty="0"/>
          </a:p>
        </p:txBody>
      </p:sp>
      <p:sp>
        <p:nvSpPr>
          <p:cNvPr id="19" name="Shape 17"/>
          <p:cNvSpPr/>
          <p:nvPr/>
        </p:nvSpPr>
        <p:spPr>
          <a:xfrm>
            <a:off x="7498080" y="2286000"/>
            <a:ext cx="1508760" cy="1188720"/>
          </a:xfrm>
          <a:prstGeom prst="rect">
            <a:avLst/>
          </a:prstGeom>
          <a:solidFill>
            <a:srgbClr val="161B22"/>
          </a:solidFill>
          <a:ln w="12700">
            <a:solidFill>
              <a:srgbClr val="238636"/>
            </a:solidFill>
            <a:prstDash val="solid"/>
          </a:ln>
        </p:spPr>
      </p:sp>
      <p:sp>
        <p:nvSpPr>
          <p:cNvPr id="20" name="Text 18"/>
          <p:cNvSpPr/>
          <p:nvPr/>
        </p:nvSpPr>
        <p:spPr>
          <a:xfrm>
            <a:off x="7498080" y="2377440"/>
            <a:ext cx="1508760" cy="502920"/>
          </a:xfrm>
          <a:prstGeom prst="rect">
            <a:avLst/>
          </a:prstGeom>
          <a:noFill/>
          <a:ln/>
        </p:spPr>
        <p:txBody>
          <a:bodyPr wrap="square" rtlCol="0" anchor="ctr"/>
          <a:lstStyle/>
          <a:p>
            <a:pPr algn="ctr" indent="0" marL="0">
              <a:buNone/>
            </a:pPr>
            <a:r>
              <a:rPr lang="en-US" sz="1600" b="1" dirty="0">
                <a:solidFill>
                  <a:srgbClr val="238636"/>
                </a:solidFill>
                <a:latin typeface="Calibri" pitchFamily="34" charset="0"/>
                <a:ea typeface="Calibri" pitchFamily="34" charset="-122"/>
                <a:cs typeface="Calibri" pitchFamily="34" charset="-120"/>
              </a:rPr>
              <a:t>~58%</a:t>
            </a:r>
            <a:endParaRPr lang="en-US" sz="1600" dirty="0"/>
          </a:p>
        </p:txBody>
      </p:sp>
      <p:sp>
        <p:nvSpPr>
          <p:cNvPr id="21" name="Text 19"/>
          <p:cNvSpPr/>
          <p:nvPr/>
        </p:nvSpPr>
        <p:spPr>
          <a:xfrm>
            <a:off x="7498080" y="2880360"/>
            <a:ext cx="1508760" cy="502920"/>
          </a:xfrm>
          <a:prstGeom prst="rect">
            <a:avLst/>
          </a:prstGeom>
          <a:noFill/>
          <a:ln/>
        </p:spPr>
        <p:txBody>
          <a:bodyPr wrap="square" rtlCol="0" anchor="ctr"/>
          <a:lstStyle/>
          <a:p>
            <a:pPr algn="ctr" indent="0" marL="0">
              <a:buNone/>
            </a:pPr>
            <a:r>
              <a:rPr lang="en-US" sz="900" dirty="0">
                <a:solidFill>
                  <a:srgbClr val="8B949E"/>
                </a:solidFill>
                <a:latin typeface="Calibri" pitchFamily="34" charset="0"/>
                <a:ea typeface="Calibri" pitchFamily="34" charset="-122"/>
                <a:cs typeface="Calibri" pitchFamily="34" charset="-120"/>
              </a:rPr>
              <a:t>late risk across all markets</a:t>
            </a:r>
            <a:endParaRPr lang="en-US" sz="900" dirty="0"/>
          </a:p>
        </p:txBody>
      </p:sp>
      <p:sp>
        <p:nvSpPr>
          <p:cNvPr id="22" name="Shape 20"/>
          <p:cNvSpPr/>
          <p:nvPr/>
        </p:nvSpPr>
        <p:spPr>
          <a:xfrm>
            <a:off x="274320" y="3749040"/>
            <a:ext cx="8595360" cy="1097280"/>
          </a:xfrm>
          <a:prstGeom prst="rect">
            <a:avLst/>
          </a:prstGeom>
          <a:solidFill>
            <a:srgbClr val="161B22"/>
          </a:solidFill>
          <a:ln w="12700">
            <a:solidFill>
              <a:srgbClr val="1F6FEB"/>
            </a:solidFill>
            <a:prstDash val="solid"/>
          </a:ln>
        </p:spPr>
      </p:sp>
      <p:sp>
        <p:nvSpPr>
          <p:cNvPr id="23" name="Text 21"/>
          <p:cNvSpPr/>
          <p:nvPr/>
        </p:nvSpPr>
        <p:spPr>
          <a:xfrm>
            <a:off x="457200" y="3794760"/>
            <a:ext cx="8229600" cy="1005840"/>
          </a:xfrm>
          <a:prstGeom prst="rect">
            <a:avLst/>
          </a:prstGeom>
          <a:noFill/>
          <a:ln/>
        </p:spPr>
        <p:txBody>
          <a:bodyPr wrap="square" rtlCol="0" anchor="ctr"/>
          <a:lstStyle/>
          <a:p>
            <a:pPr indent="0" marL="0">
              <a:buNone/>
            </a:pPr>
            <a:r>
              <a:rPr lang="en-US" sz="1200" b="1" dirty="0">
                <a:solidFill>
                  <a:srgbClr val="1F6FEB"/>
                </a:solidFill>
                <a:latin typeface="Calibri" pitchFamily="34" charset="0"/>
                <a:ea typeface="Calibri" pitchFamily="34" charset="-122"/>
                <a:cs typeface="Calibri" pitchFamily="34" charset="-120"/>
              </a:rPr>
              <a:t>Conclusion: </a:t>
            </a:r>
            <a:pPr indent="0" marL="0">
              <a:buNone/>
            </a:pPr>
            <a:r>
              <a:rPr lang="en-US" sz="1200" dirty="0">
                <a:solidFill>
                  <a:srgbClr val="8B949E"/>
                </a:solidFill>
                <a:latin typeface="Calibri" pitchFamily="34" charset="0"/>
                <a:ea typeface="Calibri" pitchFamily="34" charset="-122"/>
                <a:cs typeface="Calibri" pitchFamily="34" charset="-120"/>
              </a:rPr>
              <a:t>Both algorithms integrate cleanly. Topological sort enforces valid flow structure while Dijkstra's finds optimal routes through it. The app makes supply chain optimization accessible to any user regardless of technical background.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4114800" cy="502920"/>
          </a:xfrm>
          <a:prstGeom prst="rect">
            <a:avLst/>
          </a:prstGeom>
          <a:noFill/>
          <a:ln/>
        </p:spPr>
        <p:txBody>
          <a:bodyPr wrap="square" rtlCol="0" anchor="ctr"/>
          <a:lstStyle/>
          <a:p>
            <a:pPr indent="0" marL="0">
              <a:buNone/>
            </a:pPr>
            <a:r>
              <a:rPr lang="en-US" sz="2800" b="1" dirty="0">
                <a:solidFill>
                  <a:srgbClr val="F0F6FC"/>
                </a:solidFill>
                <a:latin typeface="Calibri" pitchFamily="34" charset="0"/>
                <a:ea typeface="Calibri" pitchFamily="34" charset="-122"/>
                <a:cs typeface="Calibri" pitchFamily="34" charset="-120"/>
              </a:rPr>
              <a:t>Tech Stack</a:t>
            </a:r>
            <a:endParaRPr lang="en-US" sz="2800" dirty="0"/>
          </a:p>
        </p:txBody>
      </p:sp>
      <p:sp>
        <p:nvSpPr>
          <p:cNvPr id="3" name="Shape 1"/>
          <p:cNvSpPr/>
          <p:nvPr/>
        </p:nvSpPr>
        <p:spPr>
          <a:xfrm>
            <a:off x="274320" y="914400"/>
            <a:ext cx="5303520" cy="1005840"/>
          </a:xfrm>
          <a:prstGeom prst="rect">
            <a:avLst/>
          </a:prstGeom>
          <a:solidFill>
            <a:srgbClr val="161B22"/>
          </a:solidFill>
          <a:ln w="12700">
            <a:solidFill>
              <a:srgbClr val="1F6FEB"/>
            </a:solidFill>
            <a:prstDash val="solid"/>
          </a:ln>
        </p:spPr>
      </p:sp>
      <p:sp>
        <p:nvSpPr>
          <p:cNvPr id="4" name="Shape 2"/>
          <p:cNvSpPr/>
          <p:nvPr/>
        </p:nvSpPr>
        <p:spPr>
          <a:xfrm>
            <a:off x="274320" y="914400"/>
            <a:ext cx="54864" cy="1005840"/>
          </a:xfrm>
          <a:prstGeom prst="rect">
            <a:avLst/>
          </a:prstGeom>
          <a:solidFill>
            <a:srgbClr val="1F6FEB"/>
          </a:solidFill>
          <a:ln w="12700">
            <a:solidFill>
              <a:srgbClr val="1F6FEB"/>
            </a:solidFill>
            <a:prstDash val="solid"/>
          </a:ln>
        </p:spPr>
      </p:sp>
      <p:sp>
        <p:nvSpPr>
          <p:cNvPr id="5" name="Text 3"/>
          <p:cNvSpPr/>
          <p:nvPr/>
        </p:nvSpPr>
        <p:spPr>
          <a:xfrm>
            <a:off x="457200" y="1005840"/>
            <a:ext cx="4937760" cy="365760"/>
          </a:xfrm>
          <a:prstGeom prst="rect">
            <a:avLst/>
          </a:prstGeom>
          <a:noFill/>
          <a:ln/>
        </p:spPr>
        <p:txBody>
          <a:bodyPr wrap="square" rtlCol="0" anchor="ctr"/>
          <a:lstStyle/>
          <a:p>
            <a:pPr indent="0" marL="0">
              <a:buNone/>
            </a:pPr>
            <a:r>
              <a:rPr lang="en-US" sz="1500" b="1" dirty="0">
                <a:solidFill>
                  <a:srgbClr val="F0F6FC"/>
                </a:solidFill>
                <a:latin typeface="Calibri" pitchFamily="34" charset="0"/>
                <a:ea typeface="Calibri" pitchFamily="34" charset="-122"/>
                <a:cs typeface="Calibri" pitchFamily="34" charset="-120"/>
              </a:rPr>
              <a:t>Python</a:t>
            </a:r>
            <a:endParaRPr lang="en-US" sz="1500" dirty="0"/>
          </a:p>
        </p:txBody>
      </p:sp>
      <p:sp>
        <p:nvSpPr>
          <p:cNvPr id="6" name="Text 4"/>
          <p:cNvSpPr/>
          <p:nvPr/>
        </p:nvSpPr>
        <p:spPr>
          <a:xfrm>
            <a:off x="457200" y="1417320"/>
            <a:ext cx="4937760" cy="365760"/>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Core language</a:t>
            </a:r>
            <a:endParaRPr lang="en-US" sz="1100" dirty="0"/>
          </a:p>
        </p:txBody>
      </p:sp>
      <p:sp>
        <p:nvSpPr>
          <p:cNvPr id="7" name="Shape 5"/>
          <p:cNvSpPr/>
          <p:nvPr/>
        </p:nvSpPr>
        <p:spPr>
          <a:xfrm>
            <a:off x="274320" y="2103120"/>
            <a:ext cx="5303520" cy="1005840"/>
          </a:xfrm>
          <a:prstGeom prst="rect">
            <a:avLst/>
          </a:prstGeom>
          <a:solidFill>
            <a:srgbClr val="161B22"/>
          </a:solidFill>
          <a:ln w="12700">
            <a:solidFill>
              <a:srgbClr val="E88C0E"/>
            </a:solidFill>
            <a:prstDash val="solid"/>
          </a:ln>
        </p:spPr>
      </p:sp>
      <p:sp>
        <p:nvSpPr>
          <p:cNvPr id="8" name="Shape 6"/>
          <p:cNvSpPr/>
          <p:nvPr/>
        </p:nvSpPr>
        <p:spPr>
          <a:xfrm>
            <a:off x="274320" y="2103120"/>
            <a:ext cx="54864" cy="1005840"/>
          </a:xfrm>
          <a:prstGeom prst="rect">
            <a:avLst/>
          </a:prstGeom>
          <a:solidFill>
            <a:srgbClr val="E88C0E"/>
          </a:solidFill>
          <a:ln w="12700">
            <a:solidFill>
              <a:srgbClr val="E88C0E"/>
            </a:solidFill>
            <a:prstDash val="solid"/>
          </a:ln>
        </p:spPr>
      </p:sp>
      <p:sp>
        <p:nvSpPr>
          <p:cNvPr id="9" name="Text 7"/>
          <p:cNvSpPr/>
          <p:nvPr/>
        </p:nvSpPr>
        <p:spPr>
          <a:xfrm>
            <a:off x="457200" y="2194560"/>
            <a:ext cx="4937760" cy="365760"/>
          </a:xfrm>
          <a:prstGeom prst="rect">
            <a:avLst/>
          </a:prstGeom>
          <a:noFill/>
          <a:ln/>
        </p:spPr>
        <p:txBody>
          <a:bodyPr wrap="square" rtlCol="0" anchor="ctr"/>
          <a:lstStyle/>
          <a:p>
            <a:pPr indent="0" marL="0">
              <a:buNone/>
            </a:pPr>
            <a:r>
              <a:rPr lang="en-US" sz="1500" b="1" dirty="0">
                <a:solidFill>
                  <a:srgbClr val="F0F6FC"/>
                </a:solidFill>
                <a:latin typeface="Calibri" pitchFamily="34" charset="0"/>
                <a:ea typeface="Calibri" pitchFamily="34" charset="-122"/>
                <a:cs typeface="Calibri" pitchFamily="34" charset="-120"/>
              </a:rPr>
              <a:t>Streamlit</a:t>
            </a:r>
            <a:endParaRPr lang="en-US" sz="1500" dirty="0"/>
          </a:p>
        </p:txBody>
      </p:sp>
      <p:sp>
        <p:nvSpPr>
          <p:cNvPr id="10" name="Text 8"/>
          <p:cNvSpPr/>
          <p:nvPr/>
        </p:nvSpPr>
        <p:spPr>
          <a:xfrm>
            <a:off x="457200" y="2606040"/>
            <a:ext cx="4937760" cy="365760"/>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Interactive web application</a:t>
            </a:r>
            <a:endParaRPr lang="en-US" sz="1100" dirty="0"/>
          </a:p>
        </p:txBody>
      </p:sp>
      <p:sp>
        <p:nvSpPr>
          <p:cNvPr id="11" name="Shape 9"/>
          <p:cNvSpPr/>
          <p:nvPr/>
        </p:nvSpPr>
        <p:spPr>
          <a:xfrm>
            <a:off x="274320" y="3291840"/>
            <a:ext cx="5303520" cy="1005840"/>
          </a:xfrm>
          <a:prstGeom prst="rect">
            <a:avLst/>
          </a:prstGeom>
          <a:solidFill>
            <a:srgbClr val="161B22"/>
          </a:solidFill>
          <a:ln w="12700">
            <a:solidFill>
              <a:srgbClr val="1F6FEB"/>
            </a:solidFill>
            <a:prstDash val="solid"/>
          </a:ln>
        </p:spPr>
      </p:sp>
      <p:sp>
        <p:nvSpPr>
          <p:cNvPr id="12" name="Shape 10"/>
          <p:cNvSpPr/>
          <p:nvPr/>
        </p:nvSpPr>
        <p:spPr>
          <a:xfrm>
            <a:off x="274320" y="3291840"/>
            <a:ext cx="54864" cy="1005840"/>
          </a:xfrm>
          <a:prstGeom prst="rect">
            <a:avLst/>
          </a:prstGeom>
          <a:solidFill>
            <a:srgbClr val="1F6FEB"/>
          </a:solidFill>
          <a:ln w="12700">
            <a:solidFill>
              <a:srgbClr val="1F6FEB"/>
            </a:solidFill>
            <a:prstDash val="solid"/>
          </a:ln>
        </p:spPr>
      </p:sp>
      <p:sp>
        <p:nvSpPr>
          <p:cNvPr id="13" name="Text 11"/>
          <p:cNvSpPr/>
          <p:nvPr/>
        </p:nvSpPr>
        <p:spPr>
          <a:xfrm>
            <a:off x="457200" y="3383280"/>
            <a:ext cx="4937760" cy="365760"/>
          </a:xfrm>
          <a:prstGeom prst="rect">
            <a:avLst/>
          </a:prstGeom>
          <a:noFill/>
          <a:ln/>
        </p:spPr>
        <p:txBody>
          <a:bodyPr wrap="square" rtlCol="0" anchor="ctr"/>
          <a:lstStyle/>
          <a:p>
            <a:pPr indent="0" marL="0">
              <a:buNone/>
            </a:pPr>
            <a:r>
              <a:rPr lang="en-US" sz="1500" b="1" dirty="0">
                <a:solidFill>
                  <a:srgbClr val="F0F6FC"/>
                </a:solidFill>
                <a:latin typeface="Calibri" pitchFamily="34" charset="0"/>
                <a:ea typeface="Calibri" pitchFamily="34" charset="-122"/>
                <a:cs typeface="Calibri" pitchFamily="34" charset="-120"/>
              </a:rPr>
              <a:t>Pandas</a:t>
            </a:r>
            <a:endParaRPr lang="en-US" sz="1500" dirty="0"/>
          </a:p>
        </p:txBody>
      </p:sp>
      <p:sp>
        <p:nvSpPr>
          <p:cNvPr id="14" name="Text 12"/>
          <p:cNvSpPr/>
          <p:nvPr/>
        </p:nvSpPr>
        <p:spPr>
          <a:xfrm>
            <a:off x="457200" y="3794760"/>
            <a:ext cx="4937760" cy="365760"/>
          </a:xfrm>
          <a:prstGeom prst="rect">
            <a:avLst/>
          </a:prstGeom>
          <a:noFill/>
          <a:ln/>
        </p:spPr>
        <p:txBody>
          <a:bodyPr wrap="square" rtlCol="0" anchor="ctr"/>
          <a:lstStyle/>
          <a:p>
            <a:pPr indent="0" marL="0">
              <a:buNone/>
            </a:pPr>
            <a:r>
              <a:rPr lang="en-US" sz="1100" dirty="0">
                <a:solidFill>
                  <a:srgbClr val="8B949E"/>
                </a:solidFill>
                <a:latin typeface="Calibri" pitchFamily="34" charset="0"/>
                <a:ea typeface="Calibri" pitchFamily="34" charset="-122"/>
                <a:cs typeface="Calibri" pitchFamily="34" charset="-120"/>
              </a:rPr>
              <a:t>Data cleaning &amp; aggregation</a:t>
            </a:r>
            <a:endParaRPr lang="en-US" sz="1100" dirty="0"/>
          </a:p>
        </p:txBody>
      </p:sp>
      <p:sp>
        <p:nvSpPr>
          <p:cNvPr id="15" name="Shape 13"/>
          <p:cNvSpPr/>
          <p:nvPr/>
        </p:nvSpPr>
        <p:spPr>
          <a:xfrm>
            <a:off x="5852160" y="914400"/>
            <a:ext cx="1371600" cy="1005840"/>
          </a:xfrm>
          <a:prstGeom prst="rect">
            <a:avLst/>
          </a:prstGeom>
          <a:solidFill>
            <a:srgbClr val="161B22"/>
          </a:solidFill>
          <a:ln w="12700">
            <a:solidFill>
              <a:srgbClr val="238636"/>
            </a:solidFill>
            <a:prstDash val="solid"/>
          </a:ln>
        </p:spPr>
      </p:sp>
      <p:sp>
        <p:nvSpPr>
          <p:cNvPr id="16" name="Shape 14"/>
          <p:cNvSpPr/>
          <p:nvPr/>
        </p:nvSpPr>
        <p:spPr>
          <a:xfrm>
            <a:off x="5852160" y="914400"/>
            <a:ext cx="54864" cy="1005840"/>
          </a:xfrm>
          <a:prstGeom prst="rect">
            <a:avLst/>
          </a:prstGeom>
          <a:solidFill>
            <a:srgbClr val="238636"/>
          </a:solidFill>
          <a:ln w="12700">
            <a:solidFill>
              <a:srgbClr val="238636"/>
            </a:solidFill>
            <a:prstDash val="solid"/>
          </a:ln>
        </p:spPr>
      </p:sp>
      <p:sp>
        <p:nvSpPr>
          <p:cNvPr id="17" name="Text 15"/>
          <p:cNvSpPr/>
          <p:nvPr/>
        </p:nvSpPr>
        <p:spPr>
          <a:xfrm>
            <a:off x="5989320" y="1005840"/>
            <a:ext cx="1188720" cy="365760"/>
          </a:xfrm>
          <a:prstGeom prst="rect">
            <a:avLst/>
          </a:prstGeom>
          <a:noFill/>
          <a:ln/>
        </p:spPr>
        <p:txBody>
          <a:bodyPr wrap="square"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NetworkX</a:t>
            </a:r>
            <a:endParaRPr lang="en-US" sz="1100" dirty="0"/>
          </a:p>
        </p:txBody>
      </p:sp>
      <p:sp>
        <p:nvSpPr>
          <p:cNvPr id="18" name="Text 16"/>
          <p:cNvSpPr/>
          <p:nvPr/>
        </p:nvSpPr>
        <p:spPr>
          <a:xfrm>
            <a:off x="5989320" y="1417320"/>
            <a:ext cx="1188720" cy="411480"/>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Graph construction &amp; algorithms</a:t>
            </a:r>
            <a:endParaRPr lang="en-US" sz="900" dirty="0"/>
          </a:p>
        </p:txBody>
      </p:sp>
      <p:sp>
        <p:nvSpPr>
          <p:cNvPr id="19" name="Shape 17"/>
          <p:cNvSpPr/>
          <p:nvPr/>
        </p:nvSpPr>
        <p:spPr>
          <a:xfrm>
            <a:off x="5852160" y="2103120"/>
            <a:ext cx="1371600" cy="1005840"/>
          </a:xfrm>
          <a:prstGeom prst="rect">
            <a:avLst/>
          </a:prstGeom>
          <a:solidFill>
            <a:srgbClr val="161B22"/>
          </a:solidFill>
          <a:ln w="12700">
            <a:solidFill>
              <a:srgbClr val="8957E5"/>
            </a:solidFill>
            <a:prstDash val="solid"/>
          </a:ln>
        </p:spPr>
      </p:sp>
      <p:sp>
        <p:nvSpPr>
          <p:cNvPr id="20" name="Shape 18"/>
          <p:cNvSpPr/>
          <p:nvPr/>
        </p:nvSpPr>
        <p:spPr>
          <a:xfrm>
            <a:off x="5852160" y="2103120"/>
            <a:ext cx="54864" cy="1005840"/>
          </a:xfrm>
          <a:prstGeom prst="rect">
            <a:avLst/>
          </a:prstGeom>
          <a:solidFill>
            <a:srgbClr val="8957E5"/>
          </a:solidFill>
          <a:ln w="12700">
            <a:solidFill>
              <a:srgbClr val="8957E5"/>
            </a:solidFill>
            <a:prstDash val="solid"/>
          </a:ln>
        </p:spPr>
      </p:sp>
      <p:sp>
        <p:nvSpPr>
          <p:cNvPr id="21" name="Text 19"/>
          <p:cNvSpPr/>
          <p:nvPr/>
        </p:nvSpPr>
        <p:spPr>
          <a:xfrm>
            <a:off x="5989320" y="2194560"/>
            <a:ext cx="1188720" cy="365760"/>
          </a:xfrm>
          <a:prstGeom prst="rect">
            <a:avLst/>
          </a:prstGeom>
          <a:noFill/>
          <a:ln/>
        </p:spPr>
        <p:txBody>
          <a:bodyPr wrap="square"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Plotly</a:t>
            </a:r>
            <a:endParaRPr lang="en-US" sz="1100" dirty="0"/>
          </a:p>
        </p:txBody>
      </p:sp>
      <p:sp>
        <p:nvSpPr>
          <p:cNvPr id="22" name="Text 20"/>
          <p:cNvSpPr/>
          <p:nvPr/>
        </p:nvSpPr>
        <p:spPr>
          <a:xfrm>
            <a:off x="5989320" y="2606040"/>
            <a:ext cx="1188720" cy="411480"/>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Interactive visualizations</a:t>
            </a:r>
            <a:endParaRPr lang="en-US" sz="900" dirty="0"/>
          </a:p>
        </p:txBody>
      </p:sp>
      <p:sp>
        <p:nvSpPr>
          <p:cNvPr id="23" name="Shape 21"/>
          <p:cNvSpPr/>
          <p:nvPr/>
        </p:nvSpPr>
        <p:spPr>
          <a:xfrm>
            <a:off x="5852160" y="3291840"/>
            <a:ext cx="1371600" cy="1005840"/>
          </a:xfrm>
          <a:prstGeom prst="rect">
            <a:avLst/>
          </a:prstGeom>
          <a:solidFill>
            <a:srgbClr val="161B22"/>
          </a:solidFill>
          <a:ln w="12700">
            <a:solidFill>
              <a:srgbClr val="238636"/>
            </a:solidFill>
            <a:prstDash val="solid"/>
          </a:ln>
        </p:spPr>
      </p:sp>
      <p:sp>
        <p:nvSpPr>
          <p:cNvPr id="24" name="Shape 22"/>
          <p:cNvSpPr/>
          <p:nvPr/>
        </p:nvSpPr>
        <p:spPr>
          <a:xfrm>
            <a:off x="5852160" y="3291840"/>
            <a:ext cx="54864" cy="1005840"/>
          </a:xfrm>
          <a:prstGeom prst="rect">
            <a:avLst/>
          </a:prstGeom>
          <a:solidFill>
            <a:srgbClr val="238636"/>
          </a:solidFill>
          <a:ln w="12700">
            <a:solidFill>
              <a:srgbClr val="238636"/>
            </a:solidFill>
            <a:prstDash val="solid"/>
          </a:ln>
        </p:spPr>
      </p:sp>
      <p:sp>
        <p:nvSpPr>
          <p:cNvPr id="25" name="Text 23"/>
          <p:cNvSpPr/>
          <p:nvPr/>
        </p:nvSpPr>
        <p:spPr>
          <a:xfrm>
            <a:off x="5989320" y="3383280"/>
            <a:ext cx="1188720" cy="365760"/>
          </a:xfrm>
          <a:prstGeom prst="rect">
            <a:avLst/>
          </a:prstGeom>
          <a:noFill/>
          <a:ln/>
        </p:spPr>
        <p:txBody>
          <a:bodyPr wrap="square" rtlCol="0" anchor="ctr"/>
          <a:lstStyle/>
          <a:p>
            <a:pPr indent="0" marL="0">
              <a:buNone/>
            </a:pPr>
            <a:r>
              <a:rPr lang="en-US" sz="1100" b="1" dirty="0">
                <a:solidFill>
                  <a:srgbClr val="F0F6FC"/>
                </a:solidFill>
                <a:latin typeface="Calibri" pitchFamily="34" charset="0"/>
                <a:ea typeface="Calibri" pitchFamily="34" charset="-122"/>
                <a:cs typeface="Calibri" pitchFamily="34" charset="-120"/>
              </a:rPr>
              <a:t>deep-translator</a:t>
            </a:r>
            <a:endParaRPr lang="en-US" sz="1100" dirty="0"/>
          </a:p>
        </p:txBody>
      </p:sp>
      <p:sp>
        <p:nvSpPr>
          <p:cNvPr id="26" name="Text 24"/>
          <p:cNvSpPr/>
          <p:nvPr/>
        </p:nvSpPr>
        <p:spPr>
          <a:xfrm>
            <a:off x="5989320" y="3794760"/>
            <a:ext cx="1188720" cy="411480"/>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Auto city name translation</a:t>
            </a:r>
            <a:endParaRPr lang="en-US" sz="900" dirty="0"/>
          </a:p>
        </p:txBody>
      </p:sp>
      <p:sp>
        <p:nvSpPr>
          <p:cNvPr id="27" name="Shape 25"/>
          <p:cNvSpPr/>
          <p:nvPr/>
        </p:nvSpPr>
        <p:spPr>
          <a:xfrm>
            <a:off x="7406640" y="914400"/>
            <a:ext cx="1554480" cy="3931920"/>
          </a:xfrm>
          <a:prstGeom prst="rect">
            <a:avLst/>
          </a:prstGeom>
          <a:solidFill>
            <a:srgbClr val="161B22"/>
          </a:solidFill>
          <a:ln w="12700">
            <a:solidFill>
              <a:srgbClr val="238636"/>
            </a:solidFill>
            <a:prstDash val="solid"/>
          </a:ln>
        </p:spPr>
      </p:sp>
      <p:sp>
        <p:nvSpPr>
          <p:cNvPr id="28" name="Text 26"/>
          <p:cNvSpPr/>
          <p:nvPr/>
        </p:nvSpPr>
        <p:spPr>
          <a:xfrm>
            <a:off x="7406640" y="1371600"/>
            <a:ext cx="1554480" cy="548640"/>
          </a:xfrm>
          <a:prstGeom prst="rect">
            <a:avLst/>
          </a:prstGeom>
          <a:noFill/>
          <a:ln/>
        </p:spPr>
        <p:txBody>
          <a:bodyPr wrap="square" rtlCol="0" anchor="ctr"/>
          <a:lstStyle/>
          <a:p>
            <a:pPr algn="ctr" indent="0" marL="0">
              <a:buNone/>
            </a:pPr>
            <a:r>
              <a:rPr lang="en-US" sz="1600" b="1" dirty="0">
                <a:solidFill>
                  <a:srgbClr val="238636"/>
                </a:solidFill>
                <a:latin typeface="Calibri" pitchFamily="34" charset="0"/>
                <a:ea typeface="Calibri" pitchFamily="34" charset="-122"/>
                <a:cs typeface="Calibri" pitchFamily="34" charset="-120"/>
              </a:rPr>
              <a:t>Thank You</a:t>
            </a:r>
            <a:endParaRPr lang="en-US" sz="1600" dirty="0"/>
          </a:p>
        </p:txBody>
      </p:sp>
      <p:sp>
        <p:nvSpPr>
          <p:cNvPr id="29" name="Text 27"/>
          <p:cNvSpPr/>
          <p:nvPr/>
        </p:nvSpPr>
        <p:spPr>
          <a:xfrm>
            <a:off x="7406640" y="2011680"/>
            <a:ext cx="1554480" cy="2743200"/>
          </a:xfrm>
          <a:prstGeom prst="rect">
            <a:avLst/>
          </a:prstGeom>
          <a:noFill/>
          <a:ln/>
        </p:spPr>
        <p:txBody>
          <a:bodyPr wrap="square" rtlCol="0" anchor="t"/>
          <a:lstStyle/>
          <a:p>
            <a:pPr algn="ctr" indent="0" marL="0">
              <a:buNone/>
            </a:pPr>
            <a:r>
              <a:rPr lang="en-US" sz="1000" b="1" dirty="0">
                <a:solidFill>
                  <a:srgbClr val="F0F6FC"/>
                </a:solidFill>
                <a:latin typeface="Calibri" pitchFamily="34" charset="0"/>
                <a:ea typeface="Calibri" pitchFamily="34" charset="-122"/>
                <a:cs typeface="Calibri" pitchFamily="34" charset="-120"/>
              </a:rPr>
              <a:t>Dharmesh Sharma</a:t>
            </a:r>
            <a:endParaRPr lang="en-US" sz="1000" dirty="0"/>
          </a:p>
          <a:p>
            <a:pPr algn="ctr" indent="0" marL="0">
              <a:buNone/>
            </a:pPr>
            <a:r>
              <a:rPr lang="en-US" sz="1000" b="1" dirty="0">
                <a:solidFill>
                  <a:srgbClr val="F0F6FC"/>
                </a:solidFill>
                <a:latin typeface="Calibri" pitchFamily="34" charset="0"/>
                <a:ea typeface="Calibri" pitchFamily="34" charset="-122"/>
                <a:cs typeface="Calibri" pitchFamily="34" charset="-120"/>
              </a:rPr>
              <a:t>Mit Gandhi</a:t>
            </a:r>
            <a:endParaRPr lang="en-US" sz="1000" dirty="0"/>
          </a:p>
          <a:p>
            <a:pPr algn="ctr" indent="0" marL="0">
              <a:buNone/>
            </a:pPr>
            <a:r>
              <a:rPr lang="en-US" sz="1000" dirty="0">
                <a:solidFill>
                  <a:srgbClr val="000000"/>
                </a:solidFill>
                <a:latin typeface="Calibri" pitchFamily="34" charset="0"/>
                <a:ea typeface="Calibri" pitchFamily="34" charset="-122"/>
                <a:cs typeface="Calibri" pitchFamily="34" charset="-120"/>
              </a:rPr>
              <a:t> </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MSML 606</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Project 2</a:t>
            </a:r>
            <a:endParaRPr lang="en-US" sz="1000" dirty="0"/>
          </a:p>
          <a:p>
            <a:pPr algn="ctr" indent="0" marL="0">
              <a:buNone/>
            </a:pPr>
            <a:r>
              <a:rPr lang="en-US" sz="1000" dirty="0">
                <a:solidFill>
                  <a:srgbClr val="8B949E"/>
                </a:solidFill>
                <a:latin typeface="Calibri" pitchFamily="34" charset="0"/>
                <a:ea typeface="Calibri" pitchFamily="34" charset="-122"/>
                <a:cs typeface="Calibri" pitchFamily="34" charset="-120"/>
              </a:rPr>
              <a:t>May 2025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Network Optimizer</dc:title>
  <dc:subject>PptxGenJS Presentation</dc:subject>
  <dc:creator>Dharmesh Sharma &amp; Mit Gandhi</dc:creator>
  <cp:lastModifiedBy>Dharmesh Sharma &amp; Mit Gandhi</cp:lastModifiedBy>
  <cp:revision>1</cp:revision>
  <dcterms:created xsi:type="dcterms:W3CDTF">2026-05-08T02:19:38Z</dcterms:created>
  <dcterms:modified xsi:type="dcterms:W3CDTF">2026-05-08T02:19:38Z</dcterms:modified>
</cp:coreProperties>
</file>